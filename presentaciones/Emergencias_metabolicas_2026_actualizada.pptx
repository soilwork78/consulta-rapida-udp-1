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</p:sldIdLst>
  <p:notesMasterIdLst>
    <p:notesMasterId r:id="rId5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ción" id="{fc1a5785-366c-640c-19bf-a9cc630e5940}">
          <p14:sldIdLst>
            <p14:sldId id="256"/>
            <p14:sldId id="257"/>
            <p14:sldId id="258"/>
          </p14:sldIdLst>
        </p14:section>
        <p14:section name="Diabetes y complicaciones agudas" id="{628637fc-1afe-b648-78ae-c42839e3ab03}">
          <p14:sldIdLst>
            <p14:sldId id="259"/>
            <p14:sldId id="260"/>
            <p14:sldId id="261"/>
          </p14:sldIdLst>
        </p14:section>
        <p14:section name="Cetoacidosis diabética" id="{f2249a4e-e486-0076-a2ae-864784d30a00}">
          <p14:sldIdLst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</p14:sldIdLst>
        </p14:section>
        <p14:section name="Síndrome hiperglicémico hiperosmolar" id="{585f936a-cfb7-8954-03bf-99a6d452558b}">
          <p14:sldIdLst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</p14:sldIdLst>
        </p14:section>
        <p14:section name="Cuidados de enfermería CAD y SHH" id="{e51e5458-b9e6-d37f-995d-8d7e25a29ae8}">
          <p14:sldIdLst>
            <p14:sldId id="287"/>
            <p14:sldId id="288"/>
            <p14:sldId id="289"/>
            <p14:sldId id="290"/>
            <p14:sldId id="291"/>
            <p14:sldId id="292"/>
          </p14:sldIdLst>
        </p14:section>
        <p14:section name="Hipoglicemia" id="{c0297755-c4a9-2ec9-a94e-fbd9db978c78}">
          <p14:sldIdLst>
            <p14:sldId id="293"/>
            <p14:sldId id="294"/>
            <p14:sldId id="295"/>
            <p14:sldId id="296"/>
            <p14:sldId id="297"/>
            <p14:sldId id="298"/>
          </p14:sldIdLst>
        </p14:section>
        <p14:section name="Caso clínico" id="{f3db22dd-c374-97ee-c083-f4e88e9fbe90}">
          <p14:sldIdLst>
            <p14:sldId id="299"/>
            <p14:sldId id="300"/>
            <p14:sldId id="301"/>
          </p14:sldIdLst>
        </p14:section>
        <p14:section name="Cierre" id="{52b6c385-b67a-4597-d03e-cced91a0eb3e}">
          <p14:sldIdLst>
            <p14:sldId id="302"/>
            <p14:sldId id="303"/>
            <p14:sldId id="30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notesMaster" Target="notesMasters/notesMaster1.xml"/><Relationship Id="rId52" Type="http://schemas.openxmlformats.org/officeDocument/2006/relationships/presProps" Target="presProps.xml"/><Relationship Id="rId53" Type="http://schemas.openxmlformats.org/officeDocument/2006/relationships/viewProps" Target="viewProps.xml"/><Relationship Id="rId54" Type="http://schemas.openxmlformats.org/officeDocument/2006/relationships/theme" Target="theme/theme1.xml"/><Relationship Id="rId5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actualizada (2026). Las recomendaciones de manejo de CAD y SHH se basan en el consenso internacional ADA/EASD/JBDS/AACE/DTS publicado en 2024 (Diabetes Care 2024;47:1257-1275), que reemplaza al consenso ADA 2009.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 final de la sesión el estudiante debe poder reconocer, priorizar y cuidar a un paciente con una crisis glicémica en SU o UPC.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Resumen de los cambios más relevantes del consenso 2024 respecto del consenso ADA 2009, en el que se basaba la versión anterior de esta clase.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IDF Diabetes Atlas, 11.ª ed. (2025): 589 millones de adultos de 20–79 años, 1 de cada 9. ENS Chile 2016-2017: sospecha de DM 12,3% en mayores de 15 años.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Mortalidad: la CAD tratada adecuadamente tiene mortalidad &lt; 1%; el SHH es 5 a 10 veces mayor. En una serie de EE.UU. la mortalidad intrahospitalaria fue 3% CAD, 5% SHH y 8% estado mixto.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infección es el desencadenante más frecuente a nivel mundial (14–58%). Siempre buscar la causa: es un objetivo terapéutico.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hiperglicemia genera diuresis osmótica, con pérdida de agua, sodio, potasio y fosfato. Esto explica la deshidratación y el déficit corporal total de potasio aunque la kalemia inicial sea normal o alta.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β-hidroxibutirato es el principal cetoácido en la CAD; la tira reactiva de orina (nitroprusiato) solo mide acetoacetato, por eso la cetonemia capilar o plasmática de β-OHB es la medición preferida.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series de pacientes con iSGLT2 y CAD, 35% tenía glicemia &lt; 200 mg/dL y 71% ≤ 250 mg/dL. Por eso el consenso 2024 bajó el umbral de glicemia y acepta el antecedente de diabetes como criterio 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Evolución típica en horas a pocos días. El dolor abdominal se correlaciona con la severidad de la acidosis; si persiste tras corregirla, buscar causa abdominal.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Gases venosos son suficientes para diagnóstico y seguimiento (pH venoso ~0,02–0,03 menor que el arterial). Corregir sodio por hiperglicemia: Na corregido = Na medido + 1,6 × [(glicemia − 100)/100].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requieren los tres componentes. Glicemia ≥ 200 mg/dL o antecedente de diabetes, independiente de la glicemia, para incluir la CAD euglicémica.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es necesario cumplir todas las variables. La severidad orienta el lugar de manejo (SU, intermedio o UCI) y si el paciente es candidato a insulina SC.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cinco pilares se ejecutan en paralelo, no en serie. Enfermería coordina la secuencia: volumen → potasio → insulina.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cristaloides balanceados se asocian a resolución más rápida de la CAD y menos acidosis hiperclorémica (SMART, SCOPE-DKA, metaanálisis). El SF 0,9% sigue siendo aceptable. En adultos mayores, IC o diálisis: bolos de 250 mL con evaluación hemodinámica frecuente.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Todos los pacientes tienen déficit corporal total de K⁺ (3–6 mmol/kg), aunque la kalemia inicial sea normal o alta por la acidosis y la insulinopenia. Hipokalemia ≤ 2,5 durante el tratamiento triplica la mortalidad. Meta: K⁺ 4–5 mmol/L.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Bolo de 0,1 U/kg (IV o IM) solo si se prevé demora en obtener acceso venoso. Si la glicemia no desciende ≥ 50 mg/dL/h o la cetonemia ≥ 0,5 mmol/L/h, revisar hidratación, acceso y preparación, y aumentar la infusión. Insulina basal 0,15–0,3 U/kg SC precoz reduce el tiempo de resolución y la hiperglicemia de rebote.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bicarbonato no mejora desenlaces y aumenta el riesgo de hipokalemia, menor oxigenación tisular, edema cerebral y acidosis paradojal del SNC. El reemplazo rápido de fosfato puede precipitar hipocalcemia.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usar la cetonuria para evaluar resolución: el β-OHB se convierte en acetoacetato al mejorar la acidosis y la tira puede seguir positiva. La acidosis hiperclorémica post-tratamiento (anión gap normal) no es CAD persistente.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Afecta principalmente a adultos mayores con DM2, frecuentemente con infección, ACV o acceso limitado al agua. Evolución de días a semanas, lo que explica la deshidratación extrema (déficit de agua ~ 100–220 mL/kg).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insulina residual basta para frenar la lipólisis y la cetogénesis (la lipólisis se inhibe con concentraciones de insulina mucho menores que las necesarias para la captación de glucosa), pero no para permitir la utilización periférica de glucosa.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riesgo trombótico justifica tromboprofilaxis farmacológica (HBPM) si no hay contraindicación. El compromiso neurológico se correlaciona con la osmolalidad efectiva: sospechar otra causa si hay coma con osmolalidad &lt; 320.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fiebre no es habitual pese a la infección frecuente. Signo de Babinski y hemiparesia transitoria pueden simular un ACV.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umbral de osmolalidad efectiva bajó de 320 a &gt; 300 mOsm/kg (o osmolalidad total &gt; 320). Si hay β-OHB ≥ 3,0, pH &lt; 7,3 o HCO₃⁻ &lt; 18 junto a criterios de SHH, se trata de un estado mixto CAD/SHH.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Tabla reconstruida según criterios del consenso 2024. La cetonuria y el anión gap se mantienen solo como referencia.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el SHH la prioridad absoluta es el volumen. La sola reposición de fluidos reduce de manera importante la glicemia; algunos protocolos (JBDS 2023) difieren la insulina hasta que la glicemia deje de bajar solo con fluidos, salvo cetonemia significativa.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descenso brusco de osmolalidad se asocia a edema cerebral y síndrome de desmielinización osmótica. El Na⁺ puede subir inicialmente al bajar la glicemia (por cada 100 mg/dL de glucosa que baja, el Na⁺ sube 1,6 mEq/L): no es indicación automática de cambiar a NaCl 0,45%.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déficit total de K⁺ es menor que en la CAD pero real; reponer tras valorar la función renal. No se recomienda el reemplazo rutinario de fosfato. Análogos SC no recomendados en SHH.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Orientar la valoración con ABCDE. En CAD el K⁺ inicial puede estar elevado pese al déficit corporal total.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Usar escala de Glasgow seriada; si GCS ≤ 8 o vómitos con compromiso de conciencia, preparar manejo avanzado de vía aérea y SNG para descompresión.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Consenso 2024: glicemia capilar cada 1–2 h; electrolitos, fosfato, creatinina, β-OHB y pH venoso cada 4 h hasta la resolución. K⁺ a las 2 h de iniciar insulina.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Tabla basada en la sección de complicaciones del consenso 2024. El edema cerebral es raro en adultos pero de alta letalidad; la cefalea nueva, bradicardia o deterioro de conciencia durante el tratamiento son señales de alarma.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Tras una CAD, la mortalidad a 1 año es 13 veces mayor que en la población general (49 veces en personas de 15–39 años). La educación al alta es una intervención de enfermería de alto impacto.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el paciente hospitalizado, los factores de riesgo incluyen ayuno sin ajuste de insulina, interrupción de nutrición enteral o parenteral, reducción de corticoides, sepsis y ERC.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hipoglicemia inadvertida (sin síntomas autonómicos) es frecuente en DM de larga evolución, adultos mayores, uso de β-bloqueadores e hipoglicemias recurrentes. Los síntomas autonómicos pueden faltar en pacientes sedados en UPC.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clasificación por niveles (ADA/IHSG) reemplaza a leve/moderada/severa. El nivel 3 se define por la necesidad de ayuda de un tercero, no por un valor de glicemia.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Ampolla de glucosa 30% de 20 mL = 6 g; 3 ampollas ≈ 18 g. Glucagón: 1 mg IM/SC o 3 mg intranasal cuando no hay acceso venoso (menos eficaz en ayuno prolongado, alcohol o insuficiencia hepática). Tras corregir, buscar la causa y ajustar el esquema; con sulfonilureas o insulina de acción prolongada la hipoglicemia puede recurrir.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Integra los cuidados inmediatos y posteriores de la versión original en una secuencia de valorar → tratar → reevaluar → prevenir.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Viñeta ampliada para contextualizar los exámenes originales; ajustar edad y antecedentes según el curso. Respuesta esperada: CAD moderada (pH 7,23; HCO₃⁻ 12). K⁺ 3,4 &lt; 3,5: reponer K⁺ 10 mEq/h y diferir la insulina hasta K⁺ &gt; 3,5. Na corregido = 135 + 1,6 × 2,5 = 139.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Pauta: (1) β-OHB cuantitativo, gases venosos completos, electrolitos con Cl⁻ y fosfato, creatinina/BUN, osmolalidad, hemograma, orina completa y cultivos, ECG (K⁺ 3,4). (2) CAD moderada desencadenada por omisión de insulina. (3) Cristaloide 500–1000 mL/h; K⁺ 10 mEq/h y diferir insulina hasta K⁺ &gt; 3,5; luego insulina IV 0,1 U/kg/h. (4) ECG, glicemia horaria, BH, Glasgow, K⁺ a las 2 h. (5) Descenso de 30 mg/dL en 1 h es insuficiente (&lt; 50 mg/dL/h): verificar infusión, acceso y preparación, evaluar hidratación y aumentar la infusión según protocolo.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volviendo a los resultados de aprendizaje.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Referencias priorizadas desde 2020. Se mantienen los manuales chilenos como texto base del curso.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CION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737360"/>
            <a:ext cx="7680960" cy="23774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4343400"/>
            <a:ext cx="768096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932688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Emergencias metabólicas · Enfermería en Urgencias y Unidades Críticas ·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image" Target="../media/image-29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image" Target="../media/image-34-3.png"/><Relationship Id="rId4" Type="http://schemas.openxmlformats.org/officeDocument/2006/relationships/image" Target="../media/image-34-4.png"/><Relationship Id="rId5" Type="http://schemas.openxmlformats.org/officeDocument/2006/relationships/image" Target="../media/image-34-5.png"/><Relationship Id="rId6" Type="http://schemas.openxmlformats.org/officeDocument/2006/relationships/image" Target="../media/image-34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image" Target="../media/image-35-3.png"/><Relationship Id="rId4" Type="http://schemas.openxmlformats.org/officeDocument/2006/relationships/image" Target="../media/image-35-4.png"/><Relationship Id="rId5" Type="http://schemas.openxmlformats.org/officeDocument/2006/relationships/image" Target="../media/image-35-5.png"/><Relationship Id="rId6" Type="http://schemas.openxmlformats.org/officeDocument/2006/relationships/image" Target="../media/image-35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image" Target="../media/image-37-3.png"/><Relationship Id="rId4" Type="http://schemas.openxmlformats.org/officeDocument/2006/relationships/image" Target="../media/image-37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image" Target="../media/image-40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42-2.png"/><Relationship Id="rId3" Type="http://schemas.openxmlformats.org/officeDocument/2006/relationships/image" Target="../media/image-42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image" Target="../media/image-43-2.png"/><Relationship Id="rId3" Type="http://schemas.openxmlformats.org/officeDocument/2006/relationships/image" Target="../media/image-43-3.png"/><Relationship Id="rId4" Type="http://schemas.openxmlformats.org/officeDocument/2006/relationships/image" Target="../media/image-4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image" Target="../media/image-47-2.png"/><Relationship Id="rId3" Type="http://schemas.openxmlformats.org/officeDocument/2006/relationships/image" Target="../media/image-47-3.png"/><Relationship Id="rId4" Type="http://schemas.openxmlformats.org/officeDocument/2006/relationships/image" Target="../media/image-47-4.png"/><Relationship Id="rId5" Type="http://schemas.openxmlformats.org/officeDocument/2006/relationships/image" Target="../media/image-47-5.png"/><Relationship Id="rId6" Type="http://schemas.openxmlformats.org/officeDocument/2006/relationships/image" Target="../media/image-47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image" Target="../media/image-4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per"/>
          <p:cNvSpPr/>
          <p:nvPr/>
        </p:nvSpPr>
        <p:spPr>
          <a:xfrm>
            <a:off x="7863840" y="-1280160"/>
            <a:ext cx="5852160" cy="5852160"/>
          </a:xfrm>
          <a:prstGeom prst="ellipse">
            <a:avLst/>
          </a:prstGeom>
          <a:solidFill>
            <a:schemeClr val="accent1">
              <a:alpha val="90000"/>
            </a:schemeClr>
          </a:solidFill>
          <a:ln/>
        </p:spPr>
      </p:sp>
      <p:sp>
        <p:nvSpPr>
          <p:cNvPr id="3" name="deco hipo"/>
          <p:cNvSpPr/>
          <p:nvPr/>
        </p:nvSpPr>
        <p:spPr>
          <a:xfrm>
            <a:off x="9966960" y="3566160"/>
            <a:ext cx="3291840" cy="3291840"/>
          </a:xfrm>
          <a:prstGeom prst="ellipse">
            <a:avLst/>
          </a:prstGeom>
          <a:solidFill>
            <a:schemeClr val="accent3">
              <a:alpha val="90000"/>
            </a:schemeClr>
          </a:solidFill>
          <a:ln/>
        </p:spPr>
      </p:sp>
      <p:pic>
        <p:nvPicPr>
          <p:cNvPr id="4" name="icono gota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548640"/>
            <a:ext cx="1828800" cy="1828800"/>
          </a:xfrm>
          <a:prstGeom prst="rect">
            <a:avLst/>
          </a:prstGeom>
        </p:spPr>
      </p:pic>
      <p:sp>
        <p:nvSpPr>
          <p:cNvPr id="5" name="fondo logo"/>
          <p:cNvSpPr/>
          <p:nvPr/>
        </p:nvSpPr>
        <p:spPr>
          <a:xfrm>
            <a:off x="731520" y="548640"/>
            <a:ext cx="27432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pic>
        <p:nvPicPr>
          <p:cNvPr id="6" name="logo UDP" descr="/tmp/claude-0/-home-user-consulta-rapida-udp-1/9cceb7d2-17c1-54e8-ad8d-902cfdfe7566/scratchpad/src/unz/ppt/media/imag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612648"/>
            <a:ext cx="2560320" cy="78638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31520" y="1920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spc="200" kern="0" dirty="0">
                <a:solidFill>
                  <a:srgbClr val="F2B6BB"/>
                </a:solidFill>
              </a:rPr>
              <a:t>ENFERMERÍA EN URGENCIAS Y UNIDADES CRÍTICAS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731520" y="2331720"/>
            <a:ext cx="7680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Gestión del cuidado en emergencias metabólicas hipo e hiperglicémicas</a:t>
            </a:r>
            <a:endParaRPr lang="en-US" sz="4000" dirty="0"/>
          </a:p>
        </p:txBody>
      </p:sp>
      <p:sp>
        <p:nvSpPr>
          <p:cNvPr id="9" name="Text 5"/>
          <p:cNvSpPr txBox="1"/>
          <p:nvPr/>
        </p:nvSpPr>
        <p:spPr>
          <a:xfrm>
            <a:off x="731520" y="429768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C9D6E2"/>
                </a:solidFill>
              </a:rPr>
              <a:t>Cetoacidosis diabética · Síndrome hiperglicémico hiperosmolar · Hipoglicemia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731520" y="5257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bg1"/>
                </a:solidFill>
              </a:rPr>
              <a:t>Mg. E.U. Fabiola Calquín M.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731520" y="56692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C9D6E2"/>
                </a:solidFill>
              </a:rPr>
              <a:t>2026 · Actualizado según Consenso ADA/EASD/JBDS/AACE/DTS 2024 y ADA Standards of Care 2025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9326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Resultados de aprendizaje</a:t>
            </a:r>
            <a:endParaRPr lang="en-US" sz="3200" dirty="0"/>
          </a:p>
        </p:txBody>
      </p:sp>
      <p:sp>
        <p:nvSpPr>
          <p:cNvPr id="3" name="chip seccion"/>
          <p:cNvSpPr/>
          <p:nvPr/>
        </p:nvSpPr>
        <p:spPr>
          <a:xfrm>
            <a:off x="9896551" y="548640"/>
            <a:ext cx="1746504" cy="36576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896551" y="548640"/>
            <a:ext cx="1746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chemeClr val="bg1"/>
                </a:solidFill>
              </a:rPr>
              <a:t>GENERALIDADES</a:t>
            </a:r>
            <a:endParaRPr lang="en-US" sz="1100" dirty="0"/>
          </a:p>
        </p:txBody>
      </p:sp>
      <p:sp>
        <p:nvSpPr>
          <p:cNvPr id="6" name="card"/>
          <p:cNvSpPr/>
          <p:nvPr/>
        </p:nvSpPr>
        <p:spPr>
          <a:xfrm>
            <a:off x="548640" y="1645920"/>
            <a:ext cx="3515258" cy="3840480"/>
          </a:xfrm>
          <a:prstGeom prst="roundRect">
            <a:avLst>
              <a:gd name="adj" fmla="val 3121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3293D">
                <a:alpha val="12000"/>
              </a:srgbClr>
            </a:outerShdw>
          </a:effectLst>
        </p:spPr>
      </p:sp>
      <p:sp>
        <p:nvSpPr>
          <p:cNvPr id="7" name="icon circle"/>
          <p:cNvSpPr/>
          <p:nvPr/>
        </p:nvSpPr>
        <p:spPr>
          <a:xfrm>
            <a:off x="777240" y="1874520"/>
            <a:ext cx="640080" cy="64008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8" name="icon FaBookOpe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3661" y="2040941"/>
            <a:ext cx="307238" cy="30723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554480" y="1874520"/>
            <a:ext cx="23265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accent5"/>
                </a:solidFill>
              </a:rPr>
              <a:t>Conocer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2651760"/>
            <a:ext cx="3058058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Las principales emergencias metabólicas hipo e hiperglicémicas y su manejo en Servicios de Urgencia y UPC.</a:t>
            </a:r>
            <a:endParaRPr lang="en-US" sz="2000" dirty="0"/>
          </a:p>
        </p:txBody>
      </p:sp>
      <p:sp>
        <p:nvSpPr>
          <p:cNvPr id="11" name="card"/>
          <p:cNvSpPr/>
          <p:nvPr/>
        </p:nvSpPr>
        <p:spPr>
          <a:xfrm>
            <a:off x="4338218" y="1645920"/>
            <a:ext cx="3515258" cy="3840480"/>
          </a:xfrm>
          <a:prstGeom prst="roundRect">
            <a:avLst>
              <a:gd name="adj" fmla="val 3121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3293D">
                <a:alpha val="12000"/>
              </a:srgbClr>
            </a:outerShdw>
          </a:effectLst>
        </p:spPr>
      </p:sp>
      <p:sp>
        <p:nvSpPr>
          <p:cNvPr id="12" name="icon circle"/>
          <p:cNvSpPr/>
          <p:nvPr/>
        </p:nvSpPr>
        <p:spPr>
          <a:xfrm>
            <a:off x="4566818" y="1874520"/>
            <a:ext cx="640080" cy="64008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3" name="icon FaMagnifyingGlass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3239" y="2040941"/>
            <a:ext cx="307238" cy="30723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344058" y="1874520"/>
            <a:ext cx="23265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accent5"/>
                </a:solidFill>
              </a:rPr>
              <a:t>Reconocer</a:t>
            </a:r>
            <a:endParaRPr lang="en-US" sz="2000" dirty="0"/>
          </a:p>
        </p:txBody>
      </p:sp>
      <p:sp>
        <p:nvSpPr>
          <p:cNvPr id="15" name="Text 10"/>
          <p:cNvSpPr txBox="1"/>
          <p:nvPr/>
        </p:nvSpPr>
        <p:spPr>
          <a:xfrm>
            <a:off x="4566818" y="2651760"/>
            <a:ext cx="3058058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Signos, síntomas, criterios diagnósticos vigentes y el manejo inicial de pacientes con emergencias metabólicas.</a:t>
            </a:r>
            <a:endParaRPr lang="en-US" sz="2000" dirty="0"/>
          </a:p>
        </p:txBody>
      </p:sp>
      <p:sp>
        <p:nvSpPr>
          <p:cNvPr id="16" name="card"/>
          <p:cNvSpPr/>
          <p:nvPr/>
        </p:nvSpPr>
        <p:spPr>
          <a:xfrm>
            <a:off x="8127797" y="1645920"/>
            <a:ext cx="3515258" cy="3840480"/>
          </a:xfrm>
          <a:prstGeom prst="roundRect">
            <a:avLst>
              <a:gd name="adj" fmla="val 3121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3293D">
                <a:alpha val="12000"/>
              </a:srgbClr>
            </a:outerShdw>
          </a:effectLst>
        </p:spPr>
      </p:sp>
      <p:sp>
        <p:nvSpPr>
          <p:cNvPr id="17" name="icon circle"/>
          <p:cNvSpPr/>
          <p:nvPr/>
        </p:nvSpPr>
        <p:spPr>
          <a:xfrm>
            <a:off x="8356397" y="1874520"/>
            <a:ext cx="640080" cy="64008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8" name="icon FaUserNurs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2818" y="2040941"/>
            <a:ext cx="307238" cy="307238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133637" y="1874520"/>
            <a:ext cx="23265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accent5"/>
                </a:solidFill>
              </a:rPr>
              <a:t>Gestionar el cuidado</a:t>
            </a:r>
            <a:endParaRPr lang="en-US" sz="2000" dirty="0"/>
          </a:p>
        </p:txBody>
      </p:sp>
      <p:sp>
        <p:nvSpPr>
          <p:cNvPr id="20" name="Text 14"/>
          <p:cNvSpPr txBox="1"/>
          <p:nvPr/>
        </p:nvSpPr>
        <p:spPr>
          <a:xfrm>
            <a:off x="8356397" y="2651760"/>
            <a:ext cx="3058058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Valoración, intervenciones y monitorización de enfermería priorizadas en CAD, SHH e hipoglicemia.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9326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cambió desde 2020?</a:t>
            </a:r>
            <a:endParaRPr lang="en-US" sz="3200" dirty="0"/>
          </a:p>
        </p:txBody>
      </p:sp>
      <p:sp>
        <p:nvSpPr>
          <p:cNvPr id="3" name="chip seccion"/>
          <p:cNvSpPr/>
          <p:nvPr/>
        </p:nvSpPr>
        <p:spPr>
          <a:xfrm>
            <a:off x="9896551" y="548640"/>
            <a:ext cx="1746504" cy="36576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896551" y="548640"/>
            <a:ext cx="1746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chemeClr val="bg1"/>
                </a:solidFill>
              </a:rPr>
              <a:t>GENERALIDADES</a:t>
            </a:r>
            <a:endParaRPr lang="en-US" sz="1100" dirty="0"/>
          </a:p>
        </p:txBody>
      </p:sp>
      <p:sp>
        <p:nvSpPr>
          <p:cNvPr id="6" name="card"/>
          <p:cNvSpPr/>
          <p:nvPr/>
        </p:nvSpPr>
        <p:spPr>
          <a:xfrm>
            <a:off x="548640" y="1417320"/>
            <a:ext cx="3515258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3293D">
                <a:alpha val="12000"/>
              </a:srgbClr>
            </a:outerShdw>
          </a:effectLst>
        </p:spPr>
      </p:sp>
      <p:sp>
        <p:nvSpPr>
          <p:cNvPr id="7" name="icon circle"/>
          <p:cNvSpPr/>
          <p:nvPr/>
        </p:nvSpPr>
        <p:spPr>
          <a:xfrm>
            <a:off x="777240" y="16459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icon FaVial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3661" y="1812341"/>
            <a:ext cx="307238" cy="30723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554480" y="1645920"/>
            <a:ext cx="23265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accent1"/>
                </a:solidFill>
              </a:rPr>
              <a:t>Diagnóstico CAD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2423160"/>
            <a:ext cx="30580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Glicemia ≥ 200 mg/dL o diabetes conocida (incluye CAD euglicémica). β-hidroxibutirato ≥ 3,0 mmol/L. HCO₃⁻ &lt; 18.</a:t>
            </a:r>
            <a:endParaRPr lang="en-US" sz="1400" dirty="0"/>
          </a:p>
        </p:txBody>
      </p:sp>
      <p:sp>
        <p:nvSpPr>
          <p:cNvPr id="11" name="card"/>
          <p:cNvSpPr/>
          <p:nvPr/>
        </p:nvSpPr>
        <p:spPr>
          <a:xfrm>
            <a:off x="4338218" y="1417320"/>
            <a:ext cx="3515258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3293D">
                <a:alpha val="12000"/>
              </a:srgbClr>
            </a:outerShdw>
          </a:effectLst>
        </p:spPr>
      </p:sp>
      <p:sp>
        <p:nvSpPr>
          <p:cNvPr id="12" name="icon circle"/>
          <p:cNvSpPr/>
          <p:nvPr/>
        </p:nvSpPr>
        <p:spPr>
          <a:xfrm>
            <a:off x="4566818" y="164592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3" name="icon FaScaleBalanced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3239" y="1812341"/>
            <a:ext cx="307238" cy="30723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344058" y="1645920"/>
            <a:ext cx="23265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accent2"/>
                </a:solidFill>
              </a:rPr>
              <a:t>Diagnóstico SHH</a:t>
            </a:r>
            <a:endParaRPr lang="en-US" sz="1700" dirty="0"/>
          </a:p>
        </p:txBody>
      </p:sp>
      <p:sp>
        <p:nvSpPr>
          <p:cNvPr id="15" name="Text 10"/>
          <p:cNvSpPr txBox="1"/>
          <p:nvPr/>
        </p:nvSpPr>
        <p:spPr>
          <a:xfrm>
            <a:off x="4566818" y="2423160"/>
            <a:ext cx="30580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Osmolalidad efectiva &gt; 300 mOsm/kg (antes &gt; 320). Se reconoce el estado mixto CAD/SHH.</a:t>
            </a:r>
            <a:endParaRPr lang="en-US" sz="1400" dirty="0"/>
          </a:p>
        </p:txBody>
      </p:sp>
      <p:sp>
        <p:nvSpPr>
          <p:cNvPr id="16" name="card"/>
          <p:cNvSpPr/>
          <p:nvPr/>
        </p:nvSpPr>
        <p:spPr>
          <a:xfrm>
            <a:off x="8127797" y="1417320"/>
            <a:ext cx="3515258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3293D">
                <a:alpha val="12000"/>
              </a:srgbClr>
            </a:outerShdw>
          </a:effectLst>
        </p:spPr>
      </p:sp>
      <p:sp>
        <p:nvSpPr>
          <p:cNvPr id="17" name="icon circle"/>
          <p:cNvSpPr/>
          <p:nvPr/>
        </p:nvSpPr>
        <p:spPr>
          <a:xfrm>
            <a:off x="8356397" y="1645920"/>
            <a:ext cx="640080" cy="64008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8" name="icon FaBottleDroplet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2818" y="1812341"/>
            <a:ext cx="307238" cy="307238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133637" y="1645920"/>
            <a:ext cx="23265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accent5"/>
                </a:solidFill>
              </a:rPr>
              <a:t>Fluidos</a:t>
            </a:r>
            <a:endParaRPr lang="en-US" sz="1700" dirty="0"/>
          </a:p>
        </p:txBody>
      </p:sp>
      <p:sp>
        <p:nvSpPr>
          <p:cNvPr id="20" name="Text 14"/>
          <p:cNvSpPr txBox="1"/>
          <p:nvPr/>
        </p:nvSpPr>
        <p:spPr>
          <a:xfrm>
            <a:off x="8356397" y="2423160"/>
            <a:ext cx="30580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SF 0,9% o cristaloides balanceados (Ringer lactato, Plasma-Lyte): 500–1000 mL/h las primeras 2–4 h.</a:t>
            </a:r>
            <a:endParaRPr lang="en-US" sz="1400" dirty="0"/>
          </a:p>
        </p:txBody>
      </p:sp>
      <p:sp>
        <p:nvSpPr>
          <p:cNvPr id="21" name="card"/>
          <p:cNvSpPr/>
          <p:nvPr/>
        </p:nvSpPr>
        <p:spPr>
          <a:xfrm>
            <a:off x="548640" y="3931920"/>
            <a:ext cx="3515258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3293D">
                <a:alpha val="12000"/>
              </a:srgbClr>
            </a:outerShdw>
          </a:effectLst>
        </p:spPr>
      </p:sp>
      <p:sp>
        <p:nvSpPr>
          <p:cNvPr id="22" name="icon circle"/>
          <p:cNvSpPr/>
          <p:nvPr/>
        </p:nvSpPr>
        <p:spPr>
          <a:xfrm>
            <a:off x="777240" y="41605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3" name="icon FaSyring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661" y="4326941"/>
            <a:ext cx="307238" cy="307238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554480" y="4160520"/>
            <a:ext cx="23265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accent1"/>
                </a:solidFill>
              </a:rPr>
              <a:t>Insulina</a:t>
            </a:r>
            <a:endParaRPr lang="en-US" sz="1700" dirty="0"/>
          </a:p>
        </p:txBody>
      </p:sp>
      <p:sp>
        <p:nvSpPr>
          <p:cNvPr id="25" name="Text 18"/>
          <p:cNvSpPr txBox="1"/>
          <p:nvPr/>
        </p:nvSpPr>
        <p:spPr>
          <a:xfrm>
            <a:off x="777240" y="4937760"/>
            <a:ext cx="30580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Infusión fija 0,1 U/kg/h, sin bolo rutinario. Análogos SC en CAD leve–moderada no complicada. Basal precoz.</a:t>
            </a:r>
            <a:endParaRPr lang="en-US" sz="1400" dirty="0"/>
          </a:p>
        </p:txBody>
      </p:sp>
      <p:sp>
        <p:nvSpPr>
          <p:cNvPr id="26" name="card"/>
          <p:cNvSpPr/>
          <p:nvPr/>
        </p:nvSpPr>
        <p:spPr>
          <a:xfrm>
            <a:off x="4338218" y="3931920"/>
            <a:ext cx="3515258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3293D">
                <a:alpha val="12000"/>
              </a:srgbClr>
            </a:outerShdw>
          </a:effectLst>
        </p:spPr>
      </p:sp>
      <p:sp>
        <p:nvSpPr>
          <p:cNvPr id="27" name="icon circle"/>
          <p:cNvSpPr/>
          <p:nvPr/>
        </p:nvSpPr>
        <p:spPr>
          <a:xfrm>
            <a:off x="4566818" y="4160520"/>
            <a:ext cx="640080" cy="64008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8" name="icon FaFlask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3239" y="4326941"/>
            <a:ext cx="307238" cy="307238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5344058" y="4160520"/>
            <a:ext cx="23265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accent4"/>
                </a:solidFill>
              </a:rPr>
              <a:t>Bicarbonato</a:t>
            </a:r>
            <a:endParaRPr lang="en-US" sz="1700" dirty="0"/>
          </a:p>
        </p:txBody>
      </p:sp>
      <p:sp>
        <p:nvSpPr>
          <p:cNvPr id="30" name="Text 22"/>
          <p:cNvSpPr txBox="1"/>
          <p:nvPr/>
        </p:nvSpPr>
        <p:spPr>
          <a:xfrm>
            <a:off x="4566818" y="4937760"/>
            <a:ext cx="30580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Solo si pH &lt; 7,0 (antes &lt; 6,9). Fosfato solo si &lt; 1,0 mg/dL con debilidad muscular o compromiso cardiorrespiratorio.</a:t>
            </a:r>
            <a:endParaRPr lang="en-US" sz="1400" dirty="0"/>
          </a:p>
        </p:txBody>
      </p:sp>
      <p:sp>
        <p:nvSpPr>
          <p:cNvPr id="31" name="card"/>
          <p:cNvSpPr/>
          <p:nvPr/>
        </p:nvSpPr>
        <p:spPr>
          <a:xfrm>
            <a:off x="8127797" y="3931920"/>
            <a:ext cx="3515258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3293D">
                <a:alpha val="12000"/>
              </a:srgbClr>
            </a:outerShdw>
          </a:effectLst>
        </p:spPr>
      </p:sp>
      <p:sp>
        <p:nvSpPr>
          <p:cNvPr id="32" name="icon circle"/>
          <p:cNvSpPr/>
          <p:nvPr/>
        </p:nvSpPr>
        <p:spPr>
          <a:xfrm>
            <a:off x="8356397" y="4160520"/>
            <a:ext cx="640080" cy="64008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33" name="icon FaCircleCheck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22818" y="4326941"/>
            <a:ext cx="307238" cy="307238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9133637" y="4160520"/>
            <a:ext cx="23265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accent4"/>
                </a:solidFill>
              </a:rPr>
              <a:t>Resolución</a:t>
            </a:r>
            <a:endParaRPr lang="en-US" sz="1700" dirty="0"/>
          </a:p>
        </p:txBody>
      </p:sp>
      <p:sp>
        <p:nvSpPr>
          <p:cNvPr id="35" name="Text 26"/>
          <p:cNvSpPr txBox="1"/>
          <p:nvPr/>
        </p:nvSpPr>
        <p:spPr>
          <a:xfrm>
            <a:off x="8356397" y="4937760"/>
            <a:ext cx="30580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Cetonemia &lt; 0,6 mmol/L y pH ≥ 7,3 o HCO₃⁻ ≥ 18. El anión gap y la cetonuria dejan de ser criterios.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irculo seccion"/>
          <p:cNvSpPr/>
          <p:nvPr/>
        </p:nvSpPr>
        <p:spPr>
          <a:xfrm>
            <a:off x="8595360" y="1463040"/>
            <a:ext cx="4206240" cy="42062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3" name="icono secci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0" y="2560320"/>
            <a:ext cx="2011680" cy="20116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73152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6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731520" y="1737360"/>
            <a:ext cx="7680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Diabetes y complicaciones agudas</a:t>
            </a:r>
            <a:endParaRPr lang="en-US" sz="40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731520" y="43434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epidemiológico y panorama de las crisis glicémicas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9326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Diabetes mellitus: una carga creciente</a:t>
            </a:r>
            <a:endParaRPr lang="en-US" sz="3200" dirty="0"/>
          </a:p>
        </p:txBody>
      </p:sp>
      <p:sp>
        <p:nvSpPr>
          <p:cNvPr id="3" name="chip seccion"/>
          <p:cNvSpPr/>
          <p:nvPr/>
        </p:nvSpPr>
        <p:spPr>
          <a:xfrm>
            <a:off x="9896551" y="548640"/>
            <a:ext cx="1746504" cy="36576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896551" y="548640"/>
            <a:ext cx="1746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chemeClr val="bg1"/>
                </a:solidFill>
              </a:rPr>
              <a:t>GENERALIDADES</a:t>
            </a:r>
            <a:endParaRPr lang="en-US" sz="1100" dirty="0"/>
          </a:p>
        </p:txBody>
      </p:sp>
      <p:sp>
        <p:nvSpPr>
          <p:cNvPr id="6" name="card"/>
          <p:cNvSpPr/>
          <p:nvPr/>
        </p:nvSpPr>
        <p:spPr>
          <a:xfrm>
            <a:off x="548640" y="1554480"/>
            <a:ext cx="2788920" cy="3291840"/>
          </a:xfrm>
          <a:prstGeom prst="roundRect">
            <a:avLst>
              <a:gd name="adj" fmla="val 3934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3293D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77240" y="178308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48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589 M</a:t>
            </a:r>
            <a:endParaRPr lang="en-US" sz="4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83464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adultos con diabetes en el mundo (1 de cada 9)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43434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chemeClr val="accent6"/>
                </a:solidFill>
              </a:rPr>
              <a:t>IDF Diabetes Atlas 2025</a:t>
            </a:r>
            <a:endParaRPr lang="en-US" sz="1100" dirty="0"/>
          </a:p>
        </p:txBody>
      </p:sp>
      <p:sp>
        <p:nvSpPr>
          <p:cNvPr id="10" name="card"/>
          <p:cNvSpPr/>
          <p:nvPr/>
        </p:nvSpPr>
        <p:spPr>
          <a:xfrm>
            <a:off x="3611880" y="1554480"/>
            <a:ext cx="2788920" cy="3291840"/>
          </a:xfrm>
          <a:prstGeom prst="roundRect">
            <a:avLst>
              <a:gd name="adj" fmla="val 3934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3293D">
                <a:alpha val="12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3840480" y="178308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48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12,3%</a:t>
            </a:r>
            <a:endParaRPr lang="en-US" sz="4800" dirty="0"/>
          </a:p>
        </p:txBody>
      </p:sp>
      <p:sp>
        <p:nvSpPr>
          <p:cNvPr id="12" name="Text 9"/>
          <p:cNvSpPr txBox="1"/>
          <p:nvPr/>
        </p:nvSpPr>
        <p:spPr>
          <a:xfrm>
            <a:off x="3840480" y="283464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de la población chilena ≥ 15 años con sospecha de DM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3840480" y="43434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chemeClr val="accent6"/>
                </a:solidFill>
              </a:rPr>
              <a:t>ENS 2016-2017, MINSAL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6858000" y="1554480"/>
            <a:ext cx="47548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Enfermedad crónica </a:t>
            </a:r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de alta prevalencia y elevada morbimortalidad.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Etiología multifactorial: </a:t>
            </a:r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genética, autoinmune, estilo de vida, fármacos.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Mecanismo común: </a:t>
            </a:r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hiperglicemia por déficit de secreción y/o defecto en la acción de la insulina.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Crisis glicémicas: </a:t>
            </a:r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principal causa de hospitalización aguda en personas con diabetes; la CAD es la forma de debut en hasta un tercio de los adultos con DM1.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9326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Complicaciones agudas de la diabetes</a:t>
            </a:r>
            <a:endParaRPr lang="en-US" sz="3200" dirty="0"/>
          </a:p>
        </p:txBody>
      </p:sp>
      <p:sp>
        <p:nvSpPr>
          <p:cNvPr id="3" name="chip seccion"/>
          <p:cNvSpPr/>
          <p:nvPr/>
        </p:nvSpPr>
        <p:spPr>
          <a:xfrm>
            <a:off x="9896551" y="548640"/>
            <a:ext cx="1746504" cy="36576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896551" y="548640"/>
            <a:ext cx="1746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chemeClr val="bg1"/>
                </a:solidFill>
              </a:rPr>
              <a:t>GENERALIDADES</a:t>
            </a:r>
            <a:endParaRPr lang="en-US" sz="1100" dirty="0"/>
          </a:p>
        </p:txBody>
      </p:sp>
      <p:sp>
        <p:nvSpPr>
          <p:cNvPr id="6" name="card"/>
          <p:cNvSpPr/>
          <p:nvPr/>
        </p:nvSpPr>
        <p:spPr>
          <a:xfrm>
            <a:off x="548640" y="1554480"/>
            <a:ext cx="2606040" cy="44805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3293D">
                <a:alpha val="12000"/>
              </a:srgbClr>
            </a:outerShdw>
          </a:effectLst>
        </p:spPr>
      </p:sp>
      <p:sp>
        <p:nvSpPr>
          <p:cNvPr id="7" name="icon circle"/>
          <p:cNvSpPr/>
          <p:nvPr/>
        </p:nvSpPr>
        <p:spPr>
          <a:xfrm>
            <a:off x="1417320" y="182880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icon FaFir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3177" y="2054657"/>
            <a:ext cx="416966" cy="41696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31520" y="283464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accent1"/>
                </a:solidFill>
              </a:rPr>
              <a:t>Cetoacidosis diabética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731520" y="370332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Insulinopenia absoluta → cetosis y acidosis metabólica.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731520" y="52120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accent6"/>
                </a:solidFill>
              </a:rPr>
              <a:t>Mortalidad &lt; 1%</a:t>
            </a:r>
            <a:endParaRPr lang="en-US" sz="1300" dirty="0"/>
          </a:p>
        </p:txBody>
      </p:sp>
      <p:sp>
        <p:nvSpPr>
          <p:cNvPr id="12" name="card"/>
          <p:cNvSpPr/>
          <p:nvPr/>
        </p:nvSpPr>
        <p:spPr>
          <a:xfrm>
            <a:off x="3383280" y="1554480"/>
            <a:ext cx="2606040" cy="44805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3293D">
                <a:alpha val="12000"/>
              </a:srgbClr>
            </a:outerShdw>
          </a:effectLst>
        </p:spPr>
      </p:sp>
      <p:sp>
        <p:nvSpPr>
          <p:cNvPr id="13" name="icon circle"/>
          <p:cNvSpPr/>
          <p:nvPr/>
        </p:nvSpPr>
        <p:spPr>
          <a:xfrm>
            <a:off x="4251960" y="1828800"/>
            <a:ext cx="868680" cy="8686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4" name="icon FaDroplet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7817" y="2054657"/>
            <a:ext cx="416966" cy="41696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3566160" y="283464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accent2"/>
                </a:solidFill>
              </a:rPr>
              <a:t>Sd. hiperglicémico hiperosmolar</a:t>
            </a:r>
            <a:endParaRPr lang="en-US" sz="1800" dirty="0"/>
          </a:p>
        </p:txBody>
      </p:sp>
      <p:sp>
        <p:nvSpPr>
          <p:cNvPr id="16" name="Text 11"/>
          <p:cNvSpPr txBox="1"/>
          <p:nvPr/>
        </p:nvSpPr>
        <p:spPr>
          <a:xfrm>
            <a:off x="3566160" y="370332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Insulinopenia relativa → hiperglicemia extrema y deshidratación severa.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3566160" y="52120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accent6"/>
                </a:solidFill>
              </a:rPr>
              <a:t>Mortalidad 5–10 × CAD</a:t>
            </a:r>
            <a:endParaRPr lang="en-US" sz="1300" dirty="0"/>
          </a:p>
        </p:txBody>
      </p:sp>
      <p:sp>
        <p:nvSpPr>
          <p:cNvPr id="18" name="card"/>
          <p:cNvSpPr/>
          <p:nvPr/>
        </p:nvSpPr>
        <p:spPr>
          <a:xfrm>
            <a:off x="6217920" y="1554480"/>
            <a:ext cx="2606040" cy="44805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3293D">
                <a:alpha val="12000"/>
              </a:srgbClr>
            </a:outerShdw>
          </a:effectLst>
        </p:spPr>
      </p:sp>
      <p:sp>
        <p:nvSpPr>
          <p:cNvPr id="19" name="icon circle"/>
          <p:cNvSpPr/>
          <p:nvPr/>
        </p:nvSpPr>
        <p:spPr>
          <a:xfrm>
            <a:off x="7086600" y="1828800"/>
            <a:ext cx="868680" cy="86868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0" name="icon FaShuffl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2457" y="2054657"/>
            <a:ext cx="416966" cy="41696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400800" y="283464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accent5"/>
                </a:solidFill>
              </a:rPr>
              <a:t>Estado mixto CAD/SHH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6400800" y="370332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Criterios de ambos. Hasta un tercio de las crisis; peor pronóstico.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6400800" y="52120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accent6"/>
                </a:solidFill>
              </a:rPr>
              <a:t>Mortalidad ~8%</a:t>
            </a:r>
            <a:endParaRPr lang="en-US" sz="1300" dirty="0"/>
          </a:p>
        </p:txBody>
      </p:sp>
      <p:sp>
        <p:nvSpPr>
          <p:cNvPr id="24" name="card"/>
          <p:cNvSpPr/>
          <p:nvPr/>
        </p:nvSpPr>
        <p:spPr>
          <a:xfrm>
            <a:off x="9052560" y="1554480"/>
            <a:ext cx="2606040" cy="44805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3293D">
                <a:alpha val="12000"/>
              </a:srgbClr>
            </a:outerShdw>
          </a:effectLst>
        </p:spPr>
      </p:sp>
      <p:sp>
        <p:nvSpPr>
          <p:cNvPr id="25" name="icon circle"/>
          <p:cNvSpPr/>
          <p:nvPr/>
        </p:nvSpPr>
        <p:spPr>
          <a:xfrm>
            <a:off x="9921240" y="1828800"/>
            <a:ext cx="868680" cy="8686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6" name="icon FaArrowTrendDow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7097" y="2054657"/>
            <a:ext cx="416966" cy="416966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9235440" y="283464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accent3"/>
                </a:solidFill>
              </a:rPr>
              <a:t>Hipoglicemia</a:t>
            </a:r>
            <a:endParaRPr lang="en-US" sz="1800" dirty="0"/>
          </a:p>
        </p:txBody>
      </p:sp>
      <p:sp>
        <p:nvSpPr>
          <p:cNvPr id="28" name="Text 21"/>
          <p:cNvSpPr txBox="1"/>
          <p:nvPr/>
        </p:nvSpPr>
        <p:spPr>
          <a:xfrm>
            <a:off x="9235440" y="370332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Exceso relativo o absoluto de insulina o secretagogos.</a:t>
            </a:r>
            <a:endParaRPr lang="en-US" sz="1500" dirty="0"/>
          </a:p>
        </p:txBody>
      </p:sp>
      <p:sp>
        <p:nvSpPr>
          <p:cNvPr id="29" name="Text 22"/>
          <p:cNvSpPr txBox="1"/>
          <p:nvPr/>
        </p:nvSpPr>
        <p:spPr>
          <a:xfrm>
            <a:off x="9235440" y="52120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accent6"/>
                </a:solidFill>
              </a:rPr>
              <a:t>Complicación más frecuente del tratamiento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irculo seccion"/>
          <p:cNvSpPr/>
          <p:nvPr/>
        </p:nvSpPr>
        <p:spPr>
          <a:xfrm>
            <a:off x="8595360" y="1463040"/>
            <a:ext cx="4206240" cy="4206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o secci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0" y="2560320"/>
            <a:ext cx="2011680" cy="20116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73152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6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731520" y="1737360"/>
            <a:ext cx="7680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Cetoacidosis diabética (CAD)</a:t>
            </a:r>
            <a:endParaRPr lang="en-US" sz="40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731520" y="43434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Fisiopatología, diagnóstico y tratamiento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9326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CAD: definición y desencadenantes</a:t>
            </a:r>
            <a:endParaRPr lang="en-US" sz="3200" dirty="0"/>
          </a:p>
        </p:txBody>
      </p:sp>
      <p:sp>
        <p:nvSpPr>
          <p:cNvPr id="3" name="chip seccion"/>
          <p:cNvSpPr/>
          <p:nvPr/>
        </p:nvSpPr>
        <p:spPr>
          <a:xfrm>
            <a:off x="11085271" y="548640"/>
            <a:ext cx="557784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1085271" y="548640"/>
            <a:ext cx="557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chemeClr val="bg1"/>
                </a:solidFill>
              </a:rPr>
              <a:t>CAD</a:t>
            </a:r>
            <a:endParaRPr lang="en-US" sz="1100" dirty="0"/>
          </a:p>
        </p:txBody>
      </p:sp>
      <p:sp>
        <p:nvSpPr>
          <p:cNvPr id="6" name="triada D"/>
          <p:cNvSpPr/>
          <p:nvPr/>
        </p:nvSpPr>
        <p:spPr>
          <a:xfrm>
            <a:off x="868680" y="1508760"/>
            <a:ext cx="1188720" cy="11887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68680" y="15087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7889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Diabetes o hiperglicemia</a:t>
            </a:r>
            <a:endParaRPr lang="en-US" sz="1500" dirty="0"/>
          </a:p>
        </p:txBody>
      </p:sp>
      <p:sp>
        <p:nvSpPr>
          <p:cNvPr id="9" name="triada K"/>
          <p:cNvSpPr/>
          <p:nvPr/>
        </p:nvSpPr>
        <p:spPr>
          <a:xfrm>
            <a:off x="2834640" y="1508760"/>
            <a:ext cx="1188720" cy="11887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2834640" y="15087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</a:t>
            </a:r>
            <a:endParaRPr lang="en-US" sz="4000" dirty="0"/>
          </a:p>
        </p:txBody>
      </p:sp>
      <p:sp>
        <p:nvSpPr>
          <p:cNvPr id="11" name="Text 8"/>
          <p:cNvSpPr txBox="1"/>
          <p:nvPr/>
        </p:nvSpPr>
        <p:spPr>
          <a:xfrm>
            <a:off x="2514600" y="27889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Cetonemia (ketosis)</a:t>
            </a:r>
            <a:endParaRPr lang="en-US" sz="1500" dirty="0"/>
          </a:p>
        </p:txBody>
      </p:sp>
      <p:sp>
        <p:nvSpPr>
          <p:cNvPr id="12" name="triada A"/>
          <p:cNvSpPr/>
          <p:nvPr/>
        </p:nvSpPr>
        <p:spPr>
          <a:xfrm>
            <a:off x="4800600" y="1508760"/>
            <a:ext cx="1188720" cy="11887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4800600" y="15087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4000" dirty="0"/>
          </a:p>
        </p:txBody>
      </p:sp>
      <p:sp>
        <p:nvSpPr>
          <p:cNvPr id="14" name="Text 11"/>
          <p:cNvSpPr txBox="1"/>
          <p:nvPr/>
        </p:nvSpPr>
        <p:spPr>
          <a:xfrm>
            <a:off x="4480560" y="27889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Acidosis metabólica</a:t>
            </a:r>
            <a:endParaRPr lang="en-US" sz="1500" dirty="0"/>
          </a:p>
        </p:txBody>
      </p:sp>
      <p:sp>
        <p:nvSpPr>
          <p:cNvPr id="15" name="card"/>
          <p:cNvSpPr/>
          <p:nvPr/>
        </p:nvSpPr>
        <p:spPr>
          <a:xfrm>
            <a:off x="548640" y="3749040"/>
            <a:ext cx="566928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3293D">
                <a:alpha val="12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777240" y="38862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Mecanismo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777240" y="4297680"/>
            <a:ext cx="5212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Insulinopenia absoluta </a:t>
            </a:r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+ </a:t>
            </a:r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factor desencadenante </a:t>
            </a:r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+ exceso de </a:t>
            </a:r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hormonas contrarreguladoras </a:t>
            </a:r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(glucagón, catecolaminas, cortisol, GH).</a:t>
            </a:r>
            <a:endParaRPr lang="en-US" sz="1700" dirty="0"/>
          </a:p>
        </p:txBody>
      </p:sp>
      <p:sp>
        <p:nvSpPr>
          <p:cNvPr id="18" name="card"/>
          <p:cNvSpPr/>
          <p:nvPr/>
        </p:nvSpPr>
        <p:spPr>
          <a:xfrm>
            <a:off x="6583680" y="1463040"/>
            <a:ext cx="5056632" cy="4572000"/>
          </a:xfrm>
          <a:prstGeom prst="roundRect">
            <a:avLst>
              <a:gd name="adj" fmla="val 24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3293D">
                <a:alpha val="12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6812280" y="1645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accent1"/>
                </a:solidFill>
              </a:rPr>
              <a:t>Desencadenantes frecuentes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6812280" y="2148840"/>
            <a:ext cx="46177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Infecciones (neumonía, ITU, sepsis)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Omisión o dosis insuficiente de insulina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Debut de DM1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Inhibidores SGLT2 (CAD euglicémica)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Pancreatitis, IAM, ACV, TEP, trauma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Alcohol, cocaína; corticoides, antipsicóticos atípicos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Falla de bomba de insulina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9326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Fisiopatología I: hiperglicemia</a:t>
            </a:r>
            <a:endParaRPr lang="en-US" sz="3200" dirty="0"/>
          </a:p>
        </p:txBody>
      </p:sp>
      <p:sp>
        <p:nvSpPr>
          <p:cNvPr id="3" name="chip seccion"/>
          <p:cNvSpPr/>
          <p:nvPr/>
        </p:nvSpPr>
        <p:spPr>
          <a:xfrm>
            <a:off x="11085271" y="548640"/>
            <a:ext cx="557784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1085271" y="548640"/>
            <a:ext cx="557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chemeClr val="bg1"/>
                </a:solidFill>
              </a:rPr>
              <a:t>CAD</a:t>
            </a:r>
            <a:endParaRPr lang="en-US" sz="1100" dirty="0"/>
          </a:p>
        </p:txBody>
      </p:sp>
      <p:sp>
        <p:nvSpPr>
          <p:cNvPr id="6" name="card"/>
          <p:cNvSpPr/>
          <p:nvPr/>
        </p:nvSpPr>
        <p:spPr>
          <a:xfrm>
            <a:off x="548640" y="2880360"/>
            <a:ext cx="2651760" cy="1188720"/>
          </a:xfrm>
          <a:prstGeom prst="roundRect">
            <a:avLst>
              <a:gd name="adj" fmla="val 9231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13293D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685800" y="288036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bg1"/>
                </a:solidFill>
              </a:rPr>
              <a:t>Insulinopenia + contrarreguladoras</a:t>
            </a:r>
            <a:endParaRPr lang="en-US" sz="1700" dirty="0"/>
          </a:p>
        </p:txBody>
      </p:sp>
      <p:sp>
        <p:nvSpPr>
          <p:cNvPr id="8" name="conector"/>
          <p:cNvSpPr/>
          <p:nvPr/>
        </p:nvSpPr>
        <p:spPr>
          <a:xfrm flipV="1">
            <a:off x="3200400" y="3474720"/>
            <a:ext cx="548640" cy="-1463040"/>
          </a:xfrm>
          <a:prstGeom prst="line">
            <a:avLst/>
          </a:prstGeom>
          <a:noFill/>
          <a:ln w="25400">
            <a:solidFill>
              <a:srgbClr val="D63A47"/>
            </a:solidFill>
            <a:prstDash val="solid"/>
          </a:ln>
        </p:spPr>
      </p:sp>
      <p:sp>
        <p:nvSpPr>
          <p:cNvPr id="9" name="card"/>
          <p:cNvSpPr/>
          <p:nvPr/>
        </p:nvSpPr>
        <p:spPr>
          <a:xfrm>
            <a:off x="3749040" y="1463040"/>
            <a:ext cx="329184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3293D">
                <a:alpha val="1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3886200" y="146304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↑ Gluconeogénesis hepática</a:t>
            </a:r>
            <a:endParaRPr lang="en-US" sz="1500" dirty="0"/>
          </a:p>
        </p:txBody>
      </p:sp>
      <p:sp>
        <p:nvSpPr>
          <p:cNvPr id="11" name="conector"/>
          <p:cNvSpPr/>
          <p:nvPr/>
        </p:nvSpPr>
        <p:spPr>
          <a:xfrm flipV="1">
            <a:off x="3200400" y="3474720"/>
            <a:ext cx="548640" cy="-45720"/>
          </a:xfrm>
          <a:prstGeom prst="line">
            <a:avLst/>
          </a:prstGeom>
          <a:noFill/>
          <a:ln w="25400">
            <a:solidFill>
              <a:srgbClr val="D63A47"/>
            </a:solidFill>
            <a:prstDash val="solid"/>
          </a:ln>
        </p:spPr>
      </p:sp>
      <p:sp>
        <p:nvSpPr>
          <p:cNvPr id="12" name="card"/>
          <p:cNvSpPr/>
          <p:nvPr/>
        </p:nvSpPr>
        <p:spPr>
          <a:xfrm>
            <a:off x="3749040" y="2880360"/>
            <a:ext cx="329184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3293D">
                <a:alpha val="12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3886200" y="288036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↑ Glucogenólisis</a:t>
            </a:r>
            <a:endParaRPr lang="en-US" sz="1500" dirty="0"/>
          </a:p>
        </p:txBody>
      </p:sp>
      <p:sp>
        <p:nvSpPr>
          <p:cNvPr id="14" name="conector"/>
          <p:cNvSpPr/>
          <p:nvPr/>
        </p:nvSpPr>
        <p:spPr>
          <a:xfrm>
            <a:off x="3200400" y="3474720"/>
            <a:ext cx="548640" cy="1371600"/>
          </a:xfrm>
          <a:prstGeom prst="line">
            <a:avLst/>
          </a:prstGeom>
          <a:noFill/>
          <a:ln w="25400">
            <a:solidFill>
              <a:srgbClr val="D63A47"/>
            </a:solidFill>
            <a:prstDash val="solid"/>
          </a:ln>
        </p:spPr>
      </p:sp>
      <p:sp>
        <p:nvSpPr>
          <p:cNvPr id="15" name="card"/>
          <p:cNvSpPr/>
          <p:nvPr/>
        </p:nvSpPr>
        <p:spPr>
          <a:xfrm>
            <a:off x="3749040" y="4297680"/>
            <a:ext cx="329184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3293D">
                <a:alpha val="12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3886200" y="429768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↓ Utilización periférica de glucosa (hígado, músculo, tejido adiposo)</a:t>
            </a:r>
            <a:endParaRPr lang="en-US" sz="1500" dirty="0"/>
          </a:p>
        </p:txBody>
      </p:sp>
      <p:sp>
        <p:nvSpPr>
          <p:cNvPr id="17" name="flecha"/>
          <p:cNvSpPr/>
          <p:nvPr/>
        </p:nvSpPr>
        <p:spPr>
          <a:xfrm>
            <a:off x="7269480" y="3200400"/>
            <a:ext cx="548640" cy="54864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8" name="card"/>
          <p:cNvSpPr/>
          <p:nvPr/>
        </p:nvSpPr>
        <p:spPr>
          <a:xfrm>
            <a:off x="8046720" y="1463040"/>
            <a:ext cx="3593592" cy="4023360"/>
          </a:xfrm>
          <a:prstGeom prst="roundRect">
            <a:avLst>
              <a:gd name="adj" fmla="val 3053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3293D">
                <a:alpha val="12000"/>
              </a:srgbClr>
            </a:outerShdw>
          </a:effectLst>
        </p:spPr>
      </p:sp>
      <p:sp>
        <p:nvSpPr>
          <p:cNvPr id="19" name="icon circle"/>
          <p:cNvSpPr/>
          <p:nvPr/>
        </p:nvSpPr>
        <p:spPr>
          <a:xfrm>
            <a:off x="9418320" y="169164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icon FaArrowTrendUp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32290" y="1905610"/>
            <a:ext cx="395021" cy="395021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8229600" y="2651760"/>
            <a:ext cx="3227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accent1"/>
                </a:solidFill>
              </a:rPr>
              <a:t>Hiperglicemia</a:t>
            </a:r>
            <a:endParaRPr lang="en-US" sz="2000" dirty="0"/>
          </a:p>
        </p:txBody>
      </p:sp>
      <p:sp>
        <p:nvSpPr>
          <p:cNvPr id="22" name="Text 18"/>
          <p:cNvSpPr txBox="1"/>
          <p:nvPr/>
        </p:nvSpPr>
        <p:spPr>
          <a:xfrm>
            <a:off x="8275320" y="3200400"/>
            <a:ext cx="31546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Glucosuria y diuresis osmótica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Deshidratación e hipovolemia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Pérdida de Na⁺, K⁺, PO₄³⁻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↓ Filtración glomerular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9326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Fisiopatología II: cetogénesis</a:t>
            </a:r>
            <a:endParaRPr lang="en-US" sz="3200" dirty="0"/>
          </a:p>
        </p:txBody>
      </p:sp>
      <p:sp>
        <p:nvSpPr>
          <p:cNvPr id="3" name="chip seccion"/>
          <p:cNvSpPr/>
          <p:nvPr/>
        </p:nvSpPr>
        <p:spPr>
          <a:xfrm>
            <a:off x="11085271" y="548640"/>
            <a:ext cx="557784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1085271" y="548640"/>
            <a:ext cx="557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chemeClr val="bg1"/>
                </a:solidFill>
              </a:rPr>
              <a:t>CAD</a:t>
            </a:r>
            <a:endParaRPr lang="en-US" sz="1100" dirty="0"/>
          </a:p>
        </p:txBody>
      </p:sp>
      <p:sp>
        <p:nvSpPr>
          <p:cNvPr id="6" name="paso 1"/>
          <p:cNvSpPr/>
          <p:nvPr/>
        </p:nvSpPr>
        <p:spPr>
          <a:xfrm>
            <a:off x="548640" y="1417320"/>
            <a:ext cx="5669280" cy="658368"/>
          </a:xfrm>
          <a:prstGeom prst="roundRect">
            <a:avLst>
              <a:gd name="adj" fmla="val 13889"/>
            </a:avLst>
          </a:prstGeom>
          <a:solidFill>
            <a:schemeClr val="accent1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85800" y="1417320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Exceso de catecolaminas + insulinopenia</a:t>
            </a:r>
            <a:endParaRPr lang="en-US" sz="1500" dirty="0"/>
          </a:p>
        </p:txBody>
      </p:sp>
      <p:sp>
        <p:nvSpPr>
          <p:cNvPr id="8" name="flecha"/>
          <p:cNvSpPr/>
          <p:nvPr/>
        </p:nvSpPr>
        <p:spPr>
          <a:xfrm>
            <a:off x="3264408" y="2112264"/>
            <a:ext cx="237744" cy="228600"/>
          </a:xfrm>
          <a:prstGeom prst="downArrow">
            <a:avLst/>
          </a:prstGeom>
          <a:solidFill>
            <a:schemeClr val="accent1"/>
          </a:solidFill>
          <a:ln/>
        </p:spPr>
      </p:sp>
      <p:sp>
        <p:nvSpPr>
          <p:cNvPr id="9" name="paso 2"/>
          <p:cNvSpPr/>
          <p:nvPr/>
        </p:nvSpPr>
        <p:spPr>
          <a:xfrm>
            <a:off x="548640" y="2377440"/>
            <a:ext cx="5669280" cy="658368"/>
          </a:xfrm>
          <a:prstGeom prst="roundRect">
            <a:avLst>
              <a:gd name="adj" fmla="val 13889"/>
            </a:avLst>
          </a:prstGeom>
          <a:solidFill>
            <a:schemeClr val="bg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85800" y="2377440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Lipólisis de triglicéridos</a:t>
            </a:r>
            <a:endParaRPr lang="en-US" sz="1500" dirty="0"/>
          </a:p>
        </p:txBody>
      </p:sp>
      <p:sp>
        <p:nvSpPr>
          <p:cNvPr id="11" name="flecha"/>
          <p:cNvSpPr/>
          <p:nvPr/>
        </p:nvSpPr>
        <p:spPr>
          <a:xfrm>
            <a:off x="3264408" y="3072384"/>
            <a:ext cx="237744" cy="228600"/>
          </a:xfrm>
          <a:prstGeom prst="downArrow">
            <a:avLst/>
          </a:prstGeom>
          <a:solidFill>
            <a:schemeClr val="accent1"/>
          </a:solidFill>
          <a:ln/>
        </p:spPr>
      </p:sp>
      <p:sp>
        <p:nvSpPr>
          <p:cNvPr id="12" name="paso 3"/>
          <p:cNvSpPr/>
          <p:nvPr/>
        </p:nvSpPr>
        <p:spPr>
          <a:xfrm>
            <a:off x="548640" y="3337560"/>
            <a:ext cx="5669280" cy="658368"/>
          </a:xfrm>
          <a:prstGeom prst="roundRect">
            <a:avLst>
              <a:gd name="adj" fmla="val 13889"/>
            </a:avLst>
          </a:prstGeom>
          <a:solidFill>
            <a:schemeClr val="bg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85800" y="3337560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Ácidos grasos libres → oxidación hepática</a:t>
            </a:r>
            <a:endParaRPr lang="en-US" sz="1500" dirty="0"/>
          </a:p>
        </p:txBody>
      </p:sp>
      <p:sp>
        <p:nvSpPr>
          <p:cNvPr id="14" name="flecha"/>
          <p:cNvSpPr/>
          <p:nvPr/>
        </p:nvSpPr>
        <p:spPr>
          <a:xfrm>
            <a:off x="3264408" y="4032504"/>
            <a:ext cx="237744" cy="228600"/>
          </a:xfrm>
          <a:prstGeom prst="downArrow">
            <a:avLst/>
          </a:prstGeom>
          <a:solidFill>
            <a:schemeClr val="accent1"/>
          </a:solidFill>
          <a:ln/>
        </p:spPr>
      </p:sp>
      <p:sp>
        <p:nvSpPr>
          <p:cNvPr id="15" name="paso 4"/>
          <p:cNvSpPr/>
          <p:nvPr/>
        </p:nvSpPr>
        <p:spPr>
          <a:xfrm>
            <a:off x="548640" y="4297680"/>
            <a:ext cx="5669280" cy="658368"/>
          </a:xfrm>
          <a:prstGeom prst="roundRect">
            <a:avLst>
              <a:gd name="adj" fmla="val 13889"/>
            </a:avLst>
          </a:prstGeom>
          <a:solidFill>
            <a:schemeClr val="bg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85800" y="4297680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Cetogénesis: β-hidroxibutirato y acetoacetato</a:t>
            </a:r>
            <a:endParaRPr lang="en-US" sz="1500" dirty="0"/>
          </a:p>
        </p:txBody>
      </p:sp>
      <p:sp>
        <p:nvSpPr>
          <p:cNvPr id="17" name="flecha"/>
          <p:cNvSpPr/>
          <p:nvPr/>
        </p:nvSpPr>
        <p:spPr>
          <a:xfrm>
            <a:off x="3264408" y="4992624"/>
            <a:ext cx="237744" cy="228600"/>
          </a:xfrm>
          <a:prstGeom prst="downArrow">
            <a:avLst/>
          </a:prstGeom>
          <a:solidFill>
            <a:schemeClr val="accent1"/>
          </a:solidFill>
          <a:ln/>
        </p:spPr>
      </p:sp>
      <p:sp>
        <p:nvSpPr>
          <p:cNvPr id="18" name="paso 5"/>
          <p:cNvSpPr/>
          <p:nvPr/>
        </p:nvSpPr>
        <p:spPr>
          <a:xfrm>
            <a:off x="548640" y="5257800"/>
            <a:ext cx="5669280" cy="658368"/>
          </a:xfrm>
          <a:prstGeom prst="roundRect">
            <a:avLst>
              <a:gd name="adj" fmla="val 13889"/>
            </a:avLst>
          </a:prstGeom>
          <a:solidFill>
            <a:schemeClr val="accent1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85800" y="5257800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Cetonemia y acidosis metabólica</a:t>
            </a:r>
            <a:endParaRPr lang="en-US" sz="1500" dirty="0"/>
          </a:p>
        </p:txBody>
      </p:sp>
      <p:sp>
        <p:nvSpPr>
          <p:cNvPr id="20" name="card"/>
          <p:cNvSpPr/>
          <p:nvPr/>
        </p:nvSpPr>
        <p:spPr>
          <a:xfrm>
            <a:off x="6675120" y="1417320"/>
            <a:ext cx="4965192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3293D">
                <a:alpha val="12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6903720" y="1554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accent1"/>
                </a:solidFill>
              </a:rPr>
              <a:t>Rama del glicerol</a:t>
            </a:r>
            <a:endParaRPr lang="en-US" sz="1700" dirty="0"/>
          </a:p>
        </p:txBody>
      </p:sp>
      <p:sp>
        <p:nvSpPr>
          <p:cNvPr id="22" name="Text 19"/>
          <p:cNvSpPr txBox="1"/>
          <p:nvPr/>
        </p:nvSpPr>
        <p:spPr>
          <a:xfrm>
            <a:off x="6903720" y="1965960"/>
            <a:ext cx="4526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El glicerol liberado en la lipólisis es sustrato de gluconeogénesis y amplifica la hiperglicemia.</a:t>
            </a:r>
            <a:endParaRPr lang="en-US" sz="1500" dirty="0"/>
          </a:p>
        </p:txBody>
      </p:sp>
      <p:sp>
        <p:nvSpPr>
          <p:cNvPr id="23" name="card"/>
          <p:cNvSpPr/>
          <p:nvPr/>
        </p:nvSpPr>
        <p:spPr>
          <a:xfrm>
            <a:off x="6675120" y="3794760"/>
            <a:ext cx="4965192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3293D">
                <a:alpha val="12000"/>
              </a:srgbClr>
            </a:outerShdw>
          </a:effectLst>
        </p:spPr>
      </p:sp>
      <p:sp>
        <p:nvSpPr>
          <p:cNvPr id="24" name="Text 21"/>
          <p:cNvSpPr txBox="1"/>
          <p:nvPr/>
        </p:nvSpPr>
        <p:spPr>
          <a:xfrm>
            <a:off x="6903720" y="3931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accent1"/>
                </a:solidFill>
              </a:rPr>
              <a:t>Considerar</a:t>
            </a:r>
            <a:endParaRPr lang="en-US" sz="1700" dirty="0"/>
          </a:p>
        </p:txBody>
      </p:sp>
      <p:sp>
        <p:nvSpPr>
          <p:cNvPr id="25" name="Text 22"/>
          <p:cNvSpPr txBox="1"/>
          <p:nvPr/>
        </p:nvSpPr>
        <p:spPr>
          <a:xfrm>
            <a:off x="6903720" y="4343400"/>
            <a:ext cx="4526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Los desencadenantes elevan las hormonas contrarreguladoras y amplifican el proceso.</a:t>
            </a:r>
            <a:endParaRPr lang="en-US" sz="15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Sin desencadenante, la cetosis puede ser leve.</a:t>
            </a:r>
            <a:endParaRPr lang="en-US" sz="15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Respiración de Kussmaul = compensación respiratoria.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9326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 euglicémica e inhibidores SGLT2</a:t>
            </a:r>
            <a:endParaRPr lang="en-US" sz="3200" dirty="0"/>
          </a:p>
        </p:txBody>
      </p:sp>
      <p:sp>
        <p:nvSpPr>
          <p:cNvPr id="3" name="chip seccion"/>
          <p:cNvSpPr/>
          <p:nvPr/>
        </p:nvSpPr>
        <p:spPr>
          <a:xfrm>
            <a:off x="11085271" y="548640"/>
            <a:ext cx="557784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1085271" y="548640"/>
            <a:ext cx="557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chemeClr val="bg1"/>
                </a:solidFill>
              </a:rPr>
              <a:t>CAD</a:t>
            </a:r>
            <a:endParaRPr lang="en-US" sz="1100" dirty="0"/>
          </a:p>
        </p:txBody>
      </p:sp>
      <p:sp>
        <p:nvSpPr>
          <p:cNvPr id="6" name="card"/>
          <p:cNvSpPr/>
          <p:nvPr/>
        </p:nvSpPr>
        <p:spPr>
          <a:xfrm>
            <a:off x="548640" y="1463040"/>
            <a:ext cx="3515258" cy="4206240"/>
          </a:xfrm>
          <a:prstGeom prst="roundRect">
            <a:avLst>
              <a:gd name="adj" fmla="val 3121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3293D">
                <a:alpha val="12000"/>
              </a:srgbClr>
            </a:outerShdw>
          </a:effectLst>
        </p:spPr>
      </p:sp>
      <p:sp>
        <p:nvSpPr>
          <p:cNvPr id="7" name="icon circle"/>
          <p:cNvSpPr/>
          <p:nvPr/>
        </p:nvSpPr>
        <p:spPr>
          <a:xfrm>
            <a:off x="777240" y="16916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icon FaPills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3661" y="1858061"/>
            <a:ext cx="307238" cy="30723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554480" y="1691640"/>
            <a:ext cx="23265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accent1"/>
                </a:solidFill>
              </a:rPr>
              <a:t>¿Qué es?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2468880"/>
            <a:ext cx="3058058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CAD con glicemia &lt; 250 mg/dL (incluso &lt; 200). Fármacos implicados: dapagliflozina, empagliflozina, canagliflozina.</a:t>
            </a:r>
            <a:endParaRPr lang="en-US" sz="1800" dirty="0"/>
          </a:p>
        </p:txBody>
      </p:sp>
      <p:sp>
        <p:nvSpPr>
          <p:cNvPr id="11" name="card"/>
          <p:cNvSpPr/>
          <p:nvPr/>
        </p:nvSpPr>
        <p:spPr>
          <a:xfrm>
            <a:off x="4338218" y="1463040"/>
            <a:ext cx="3515258" cy="4206240"/>
          </a:xfrm>
          <a:prstGeom prst="roundRect">
            <a:avLst>
              <a:gd name="adj" fmla="val 3121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3293D">
                <a:alpha val="12000"/>
              </a:srgbClr>
            </a:outerShdw>
          </a:effectLst>
        </p:spPr>
      </p:sp>
      <p:sp>
        <p:nvSpPr>
          <p:cNvPr id="12" name="icon circle"/>
          <p:cNvSpPr/>
          <p:nvPr/>
        </p:nvSpPr>
        <p:spPr>
          <a:xfrm>
            <a:off x="4566818" y="16916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con FaTriangleExclamati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3239" y="1858061"/>
            <a:ext cx="307238" cy="30723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344058" y="1691640"/>
            <a:ext cx="23265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accent1"/>
                </a:solidFill>
              </a:rPr>
              <a:t>Factores de riesgo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4566818" y="2468880"/>
            <a:ext cx="3058058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Ayuno prolongado, dieta muy baja en carbohidratos, cirugía, deshidratación, alcohol, reducción de dosis de insulina, embarazo.</a:t>
            </a:r>
            <a:endParaRPr lang="en-US" sz="1800" dirty="0"/>
          </a:p>
        </p:txBody>
      </p:sp>
      <p:sp>
        <p:nvSpPr>
          <p:cNvPr id="16" name="card"/>
          <p:cNvSpPr/>
          <p:nvPr/>
        </p:nvSpPr>
        <p:spPr>
          <a:xfrm>
            <a:off x="8127797" y="1463040"/>
            <a:ext cx="3515258" cy="4206240"/>
          </a:xfrm>
          <a:prstGeom prst="roundRect">
            <a:avLst>
              <a:gd name="adj" fmla="val 3121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3293D">
                <a:alpha val="12000"/>
              </a:srgbClr>
            </a:outerShdw>
          </a:effectLst>
        </p:spPr>
      </p:sp>
      <p:sp>
        <p:nvSpPr>
          <p:cNvPr id="17" name="icon circle"/>
          <p:cNvSpPr/>
          <p:nvPr/>
        </p:nvSpPr>
        <p:spPr>
          <a:xfrm>
            <a:off x="8356397" y="16916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8" name="icon FaClipboardCheck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2818" y="1858061"/>
            <a:ext cx="307238" cy="307238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133637" y="1691640"/>
            <a:ext cx="23265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accent1"/>
                </a:solidFill>
              </a:rPr>
              <a:t>Rol de enfermería</a:t>
            </a:r>
            <a:endParaRPr lang="en-US" sz="1800" dirty="0"/>
          </a:p>
        </p:txBody>
      </p:sp>
      <p:sp>
        <p:nvSpPr>
          <p:cNvPr id="20" name="Text 14"/>
          <p:cNvSpPr txBox="1"/>
          <p:nvPr/>
        </p:nvSpPr>
        <p:spPr>
          <a:xfrm>
            <a:off x="8356397" y="2468880"/>
            <a:ext cx="3058058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Pesquisar iSGLT2 en la anamnesis farmacológica. Medir cetonemia aunque la glicemia sea “normal”. Suspender 3–4 días antes de cirugía programada.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9326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Diagnóstico clínico de la CAD</a:t>
            </a:r>
            <a:endParaRPr lang="en-US" sz="3200" dirty="0"/>
          </a:p>
        </p:txBody>
      </p:sp>
      <p:sp>
        <p:nvSpPr>
          <p:cNvPr id="3" name="chip seccion"/>
          <p:cNvSpPr/>
          <p:nvPr/>
        </p:nvSpPr>
        <p:spPr>
          <a:xfrm>
            <a:off x="11085271" y="548640"/>
            <a:ext cx="557784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1085271" y="548640"/>
            <a:ext cx="557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chemeClr val="bg1"/>
                </a:solidFill>
              </a:rPr>
              <a:t>CAD</a:t>
            </a:r>
            <a:endParaRPr lang="en-US" sz="1100" dirty="0"/>
          </a:p>
        </p:txBody>
      </p:sp>
      <p:sp>
        <p:nvSpPr>
          <p:cNvPr id="6" name="card"/>
          <p:cNvSpPr/>
          <p:nvPr/>
        </p:nvSpPr>
        <p:spPr>
          <a:xfrm>
            <a:off x="548640" y="1463040"/>
            <a:ext cx="5486400" cy="4572000"/>
          </a:xfrm>
          <a:prstGeom prst="roundRect">
            <a:avLst>
              <a:gd name="adj" fmla="val 24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3293D">
                <a:alpha val="12000"/>
              </a:srgbClr>
            </a:outerShdw>
          </a:effectLst>
        </p:spPr>
      </p:sp>
      <p:sp>
        <p:nvSpPr>
          <p:cNvPr id="7" name="icon circle"/>
          <p:cNvSpPr/>
          <p:nvPr/>
        </p:nvSpPr>
        <p:spPr>
          <a:xfrm>
            <a:off x="777240" y="16916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icon FaCommentMedical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3661" y="1858061"/>
            <a:ext cx="307238" cy="30723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00200" y="169164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900" b="1" dirty="0">
                <a:solidFill>
                  <a:schemeClr val="accent1"/>
                </a:solidFill>
              </a:rPr>
              <a:t>Síntomas</a:t>
            </a:r>
            <a:endParaRPr 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2560320"/>
            <a:ext cx="50292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Poliuria, polidipsia, polifagia y baja de peso</a:t>
            </a:r>
            <a:endParaRPr lang="en-US" sz="19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Náuseas, vómitos, dolor abdominal</a:t>
            </a:r>
            <a:endParaRPr lang="en-US" sz="19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Calambres y decaimiento</a:t>
            </a:r>
            <a:endParaRPr lang="en-US" sz="19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Compromiso de conciencia variable</a:t>
            </a:r>
            <a:endParaRPr lang="en-US" sz="1900" dirty="0"/>
          </a:p>
        </p:txBody>
      </p:sp>
      <p:sp>
        <p:nvSpPr>
          <p:cNvPr id="11" name="card"/>
          <p:cNvSpPr/>
          <p:nvPr/>
        </p:nvSpPr>
        <p:spPr>
          <a:xfrm>
            <a:off x="6153912" y="1463040"/>
            <a:ext cx="5486400" cy="4572000"/>
          </a:xfrm>
          <a:prstGeom prst="roundRect">
            <a:avLst>
              <a:gd name="adj" fmla="val 24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3293D">
                <a:alpha val="12000"/>
              </a:srgbClr>
            </a:outerShdw>
          </a:effectLst>
        </p:spPr>
      </p:sp>
      <p:sp>
        <p:nvSpPr>
          <p:cNvPr id="12" name="icon circle"/>
          <p:cNvSpPr/>
          <p:nvPr/>
        </p:nvSpPr>
        <p:spPr>
          <a:xfrm>
            <a:off x="6382512" y="16916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con FaStethoscop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8933" y="1858061"/>
            <a:ext cx="307238" cy="30723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205472" y="169164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900" b="1" dirty="0">
                <a:solidFill>
                  <a:schemeClr val="accent1"/>
                </a:solidFill>
              </a:rPr>
              <a:t>Examen físico</a:t>
            </a:r>
            <a:endParaRPr lang="en-US" sz="1900" dirty="0"/>
          </a:p>
        </p:txBody>
      </p:sp>
      <p:sp>
        <p:nvSpPr>
          <p:cNvPr id="15" name="Text 10"/>
          <p:cNvSpPr txBox="1"/>
          <p:nvPr/>
        </p:nvSpPr>
        <p:spPr>
          <a:xfrm>
            <a:off x="6382512" y="2560320"/>
            <a:ext cx="50292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900" b="1" dirty="0">
                <a:solidFill>
                  <a:schemeClr val="tx1"/>
                </a:solidFill>
              </a:rPr>
              <a:t>Respiración de Kussmaul</a:t>
            </a:r>
            <a:endParaRPr lang="en-US" sz="19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Aliento cetónico (afrutado)</a:t>
            </a:r>
            <a:endParaRPr lang="en-US" sz="19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Signos de deshidratación: mucosas secas, llene capilar lento, taquicardia, hipotensión</a:t>
            </a:r>
            <a:endParaRPr lang="en-US" sz="19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Temperatura normal o baja, aun con infección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9326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Estudio de laboratorio</a:t>
            </a:r>
            <a:endParaRPr lang="en-US" sz="3200" dirty="0"/>
          </a:p>
        </p:txBody>
      </p:sp>
      <p:sp>
        <p:nvSpPr>
          <p:cNvPr id="3" name="chip seccion"/>
          <p:cNvSpPr/>
          <p:nvPr/>
        </p:nvSpPr>
        <p:spPr>
          <a:xfrm>
            <a:off x="11085271" y="548640"/>
            <a:ext cx="557784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1085271" y="548640"/>
            <a:ext cx="557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chemeClr val="bg1"/>
                </a:solidFill>
              </a:rPr>
              <a:t>CAD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17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accent1"/>
                </a:solidFill>
              </a:rPr>
              <a:t>Exámenes iniciales</a:t>
            </a:r>
            <a:endParaRPr lang="en-US" sz="1800" dirty="0"/>
          </a:p>
        </p:txBody>
      </p:sp>
      <p:sp>
        <p:nvSpPr>
          <p:cNvPr id="7" name="card"/>
          <p:cNvSpPr/>
          <p:nvPr/>
        </p:nvSpPr>
        <p:spPr>
          <a:xfrm>
            <a:off x="548640" y="1874520"/>
            <a:ext cx="2697480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85800" y="187452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Glicemia plasmática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3429000" y="1874520"/>
            <a:ext cx="2697480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3566160" y="187452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β-hidroxibutirato capilar o plasmático</a:t>
            </a:r>
            <a:endParaRPr lang="en-US" sz="1400" dirty="0"/>
          </a:p>
        </p:txBody>
      </p:sp>
      <p:sp>
        <p:nvSpPr>
          <p:cNvPr id="11" name="card"/>
          <p:cNvSpPr/>
          <p:nvPr/>
        </p:nvSpPr>
        <p:spPr>
          <a:xfrm>
            <a:off x="548640" y="2697480"/>
            <a:ext cx="2697480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85800" y="269748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Gases venosos (pH, HCO₃⁻)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3429000" y="2697480"/>
            <a:ext cx="2697480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566160" y="269748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Electrolitos: Na⁺, K⁺, Cl⁻, PO₄, Mg</a:t>
            </a:r>
            <a:endParaRPr lang="en-US" sz="1400" dirty="0"/>
          </a:p>
        </p:txBody>
      </p:sp>
      <p:sp>
        <p:nvSpPr>
          <p:cNvPr id="15" name="card"/>
          <p:cNvSpPr/>
          <p:nvPr/>
        </p:nvSpPr>
        <p:spPr>
          <a:xfrm>
            <a:off x="548640" y="3520440"/>
            <a:ext cx="2697480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85800" y="352044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Creatinina y BUN</a:t>
            </a:r>
            <a:endParaRPr lang="en-US" sz="1400" dirty="0"/>
          </a:p>
        </p:txBody>
      </p:sp>
      <p:sp>
        <p:nvSpPr>
          <p:cNvPr id="17" name="card"/>
          <p:cNvSpPr/>
          <p:nvPr/>
        </p:nvSpPr>
        <p:spPr>
          <a:xfrm>
            <a:off x="3429000" y="3520440"/>
            <a:ext cx="2697480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3566160" y="352044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Osmolalidad plasmática</a:t>
            </a:r>
            <a:endParaRPr lang="en-US" sz="1400" dirty="0"/>
          </a:p>
        </p:txBody>
      </p:sp>
      <p:sp>
        <p:nvSpPr>
          <p:cNvPr id="19" name="card"/>
          <p:cNvSpPr/>
          <p:nvPr/>
        </p:nvSpPr>
        <p:spPr>
          <a:xfrm>
            <a:off x="548640" y="4343400"/>
            <a:ext cx="2697480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85800" y="434340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Hemograma, orina completa, cultivos</a:t>
            </a:r>
            <a:endParaRPr lang="en-US" sz="1400" dirty="0"/>
          </a:p>
        </p:txBody>
      </p:sp>
      <p:sp>
        <p:nvSpPr>
          <p:cNvPr id="21" name="card"/>
          <p:cNvSpPr/>
          <p:nvPr/>
        </p:nvSpPr>
        <p:spPr>
          <a:xfrm>
            <a:off x="3429000" y="4343400"/>
            <a:ext cx="2697480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3566160" y="434340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ECG; troponina, lipasa según clínica</a:t>
            </a:r>
            <a:endParaRPr lang="en-US" sz="1400" dirty="0"/>
          </a:p>
        </p:txBody>
      </p:sp>
      <p:sp>
        <p:nvSpPr>
          <p:cNvPr id="23" name="card"/>
          <p:cNvSpPr/>
          <p:nvPr/>
        </p:nvSpPr>
        <p:spPr>
          <a:xfrm>
            <a:off x="548640" y="5166360"/>
            <a:ext cx="2697480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685800" y="516636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Pruebas de coagulación</a:t>
            </a:r>
            <a:endParaRPr lang="en-US" sz="1400" dirty="0"/>
          </a:p>
        </p:txBody>
      </p:sp>
      <p:sp>
        <p:nvSpPr>
          <p:cNvPr id="25" name="card"/>
          <p:cNvSpPr/>
          <p:nvPr/>
        </p:nvSpPr>
        <p:spPr>
          <a:xfrm>
            <a:off x="6537960" y="1417320"/>
            <a:ext cx="5102352" cy="4617720"/>
          </a:xfrm>
          <a:prstGeom prst="roundRect">
            <a:avLst>
              <a:gd name="adj" fmla="val 2376"/>
            </a:avLst>
          </a:prstGeom>
          <a:solidFill>
            <a:schemeClr val="tx1"/>
          </a:solidFill>
          <a:ln/>
        </p:spPr>
      </p:sp>
      <p:sp>
        <p:nvSpPr>
          <p:cNvPr id="26" name="icon circle"/>
          <p:cNvSpPr/>
          <p:nvPr/>
        </p:nvSpPr>
        <p:spPr>
          <a:xfrm>
            <a:off x="6812280" y="169164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7" name="icon FaLightbulb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0588" y="1869948"/>
            <a:ext cx="329184" cy="329184"/>
          </a:xfrm>
          <a:prstGeom prst="rect">
            <a:avLst/>
          </a:prstGeom>
        </p:spPr>
      </p:pic>
      <p:sp>
        <p:nvSpPr>
          <p:cNvPr id="28" name="Text 24"/>
          <p:cNvSpPr txBox="1"/>
          <p:nvPr/>
        </p:nvSpPr>
        <p:spPr>
          <a:xfrm>
            <a:off x="7680960" y="169164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bg1"/>
                </a:solidFill>
              </a:rPr>
              <a:t>Claves 2024</a:t>
            </a:r>
            <a:endParaRPr lang="en-US" sz="2000" dirty="0"/>
          </a:p>
        </p:txBody>
      </p:sp>
      <p:sp>
        <p:nvSpPr>
          <p:cNvPr id="29" name="Text 25"/>
          <p:cNvSpPr txBox="1"/>
          <p:nvPr/>
        </p:nvSpPr>
        <p:spPr>
          <a:xfrm>
            <a:off x="6812280" y="2606040"/>
            <a:ext cx="45720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Preferir β-OHB en sangre sobre cetonuria: más específico y útil para monitorizar.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Osmolalidad efectiva = 2 × Na⁺ + glicemia/18.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El anión gap no es criterio de primera línea; útil solo si no hay medición de cetonas.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Leucocitosis es frecuente por estrés; no confirma infección.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9326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Criterios diagnósticos de CAD (2024)</a:t>
            </a:r>
            <a:endParaRPr lang="en-US" sz="3200" dirty="0"/>
          </a:p>
        </p:txBody>
      </p:sp>
      <p:sp>
        <p:nvSpPr>
          <p:cNvPr id="3" name="chip seccion"/>
          <p:cNvSpPr/>
          <p:nvPr/>
        </p:nvSpPr>
        <p:spPr>
          <a:xfrm>
            <a:off x="11085271" y="548640"/>
            <a:ext cx="557784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1085271" y="548640"/>
            <a:ext cx="557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chemeClr val="bg1"/>
                </a:solidFill>
              </a:rPr>
              <a:t>CAD</a:t>
            </a:r>
            <a:endParaRPr lang="en-US" sz="1100" dirty="0"/>
          </a:p>
        </p:txBody>
      </p:sp>
      <p:sp>
        <p:nvSpPr>
          <p:cNvPr id="6" name="card"/>
          <p:cNvSpPr/>
          <p:nvPr/>
        </p:nvSpPr>
        <p:spPr>
          <a:xfrm>
            <a:off x="548640" y="1508760"/>
            <a:ext cx="3566160" cy="393192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3293D">
                <a:alpha val="12000"/>
              </a:srgbClr>
            </a:outerShdw>
          </a:effectLst>
        </p:spPr>
      </p:sp>
      <p:sp>
        <p:nvSpPr>
          <p:cNvPr id="7" name="letra D"/>
          <p:cNvSpPr/>
          <p:nvPr/>
        </p:nvSpPr>
        <p:spPr>
          <a:xfrm>
            <a:off x="1828800" y="1737360"/>
            <a:ext cx="1005840" cy="10058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828800" y="17373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34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28803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accent6"/>
                </a:solidFill>
              </a:rPr>
              <a:t>Hiperglicemia o diabetes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342900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Glicemia ≥ 200 mg/dL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425196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o diabetes conocida (cualquier glicemia)</a:t>
            </a:r>
            <a:endParaRPr lang="en-US" sz="1600" dirty="0"/>
          </a:p>
        </p:txBody>
      </p:sp>
      <p:sp>
        <p:nvSpPr>
          <p:cNvPr id="12" name="card"/>
          <p:cNvSpPr/>
          <p:nvPr/>
        </p:nvSpPr>
        <p:spPr>
          <a:xfrm>
            <a:off x="4370832" y="1508760"/>
            <a:ext cx="3566160" cy="393192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3293D">
                <a:alpha val="12000"/>
              </a:srgbClr>
            </a:outerShdw>
          </a:effectLst>
        </p:spPr>
      </p:sp>
      <p:sp>
        <p:nvSpPr>
          <p:cNvPr id="13" name="letra K"/>
          <p:cNvSpPr/>
          <p:nvPr/>
        </p:nvSpPr>
        <p:spPr>
          <a:xfrm>
            <a:off x="5650992" y="1737360"/>
            <a:ext cx="1005840" cy="10058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650992" y="17373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</a:t>
            </a:r>
            <a:endParaRPr lang="en-US" sz="3400" dirty="0"/>
          </a:p>
        </p:txBody>
      </p:sp>
      <p:sp>
        <p:nvSpPr>
          <p:cNvPr id="15" name="Text 12"/>
          <p:cNvSpPr txBox="1"/>
          <p:nvPr/>
        </p:nvSpPr>
        <p:spPr>
          <a:xfrm>
            <a:off x="4553712" y="28803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accent6"/>
                </a:solidFill>
              </a:rPr>
              <a:t>Cetosis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4553712" y="342900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β-OHB ≥ 3,0 mmol/L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4553712" y="425196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o cetonuria ≥ 2+</a:t>
            </a:r>
            <a:endParaRPr lang="en-US" sz="1600" dirty="0"/>
          </a:p>
        </p:txBody>
      </p:sp>
      <p:sp>
        <p:nvSpPr>
          <p:cNvPr id="18" name="card"/>
          <p:cNvSpPr/>
          <p:nvPr/>
        </p:nvSpPr>
        <p:spPr>
          <a:xfrm>
            <a:off x="8193024" y="1508760"/>
            <a:ext cx="3566160" cy="393192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3293D">
                <a:alpha val="12000"/>
              </a:srgbClr>
            </a:outerShdw>
          </a:effectLst>
        </p:spPr>
      </p:sp>
      <p:sp>
        <p:nvSpPr>
          <p:cNvPr id="19" name="letra A"/>
          <p:cNvSpPr/>
          <p:nvPr/>
        </p:nvSpPr>
        <p:spPr>
          <a:xfrm>
            <a:off x="9473184" y="1737360"/>
            <a:ext cx="1005840" cy="10058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9473184" y="17373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3400" dirty="0"/>
          </a:p>
        </p:txBody>
      </p:sp>
      <p:sp>
        <p:nvSpPr>
          <p:cNvPr id="21" name="Text 18"/>
          <p:cNvSpPr txBox="1"/>
          <p:nvPr/>
        </p:nvSpPr>
        <p:spPr>
          <a:xfrm>
            <a:off x="8375904" y="28803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accent6"/>
                </a:solidFill>
              </a:rPr>
              <a:t>Acidosis metabólica</a:t>
            </a:r>
            <a:endParaRPr lang="en-US" sz="1700" dirty="0"/>
          </a:p>
        </p:txBody>
      </p:sp>
      <p:sp>
        <p:nvSpPr>
          <p:cNvPr id="22" name="Text 19"/>
          <p:cNvSpPr txBox="1"/>
          <p:nvPr/>
        </p:nvSpPr>
        <p:spPr>
          <a:xfrm>
            <a:off x="8375904" y="342900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 &lt; 7,3</a:t>
            </a:r>
            <a:endParaRPr lang="en-US" sz="2600" dirty="0"/>
          </a:p>
        </p:txBody>
      </p:sp>
      <p:sp>
        <p:nvSpPr>
          <p:cNvPr id="23" name="Text 20"/>
          <p:cNvSpPr txBox="1"/>
          <p:nvPr/>
        </p:nvSpPr>
        <p:spPr>
          <a:xfrm>
            <a:off x="8375904" y="425196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y/o HCO₃⁻ &lt; 18 mmol/L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5669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i="1" dirty="0">
                <a:solidFill>
                  <a:schemeClr val="accent6"/>
                </a:solidFill>
              </a:rPr>
              <a:t>Antes (ADA 2009): glicemia &gt; 250 mg/dL, HCO₃⁻ ≤ 18 y anión gap &gt; 10–12. Fuente: Umpierrez GE et al. Diabetes Care 2024;47:1257-75.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9326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Clasificación de severidad de la CAD</a:t>
            </a:r>
            <a:endParaRPr lang="en-US" sz="3200" dirty="0"/>
          </a:p>
        </p:txBody>
      </p:sp>
      <p:sp>
        <p:nvSpPr>
          <p:cNvPr id="3" name="chip seccion"/>
          <p:cNvSpPr/>
          <p:nvPr/>
        </p:nvSpPr>
        <p:spPr>
          <a:xfrm>
            <a:off x="11085271" y="548640"/>
            <a:ext cx="557784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1085271" y="548640"/>
            <a:ext cx="557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chemeClr val="bg1"/>
                </a:solidFill>
              </a:rPr>
              <a:t>CAD</a:t>
            </a:r>
            <a:endParaRPr lang="en-US" sz="11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69494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645920"/>
                <a:gridCol w="1645920"/>
                <a:gridCol w="1645920"/>
              </a:tblGrid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Parámetro</a:t>
                      </a:r>
                      <a:endParaRPr lang="en-US" sz="15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Leve</a:t>
                      </a:r>
                      <a:endParaRPr lang="en-US" sz="15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3A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Moderada</a:t>
                      </a:r>
                      <a:endParaRPr lang="en-US" sz="15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3A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Severa</a:t>
                      </a:r>
                      <a:endParaRPr lang="en-US" sz="15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3A47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pH</a:t>
                      </a:r>
                      <a:endParaRPr lang="en-US" sz="15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7,25 – 7,30</a:t>
                      </a:r>
                      <a:endParaRPr lang="en-US" sz="15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7,00 – 7,24</a:t>
                      </a:r>
                      <a:endParaRPr lang="en-US" sz="15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&lt; 7,00</a:t>
                      </a:r>
                      <a:endParaRPr lang="en-US" sz="15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HCO₃⁻ (mmol/L)</a:t>
                      </a:r>
                      <a:endParaRPr lang="en-US" sz="15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15 – 18</a:t>
                      </a:r>
                      <a:endParaRPr lang="en-US" sz="15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10 – &lt; 15</a:t>
                      </a:r>
                      <a:endParaRPr lang="en-US" sz="15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&lt; 10</a:t>
                      </a:r>
                      <a:endParaRPr lang="en-US" sz="15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β-OHB (mmol/L)</a:t>
                      </a:r>
                      <a:endParaRPr lang="en-US" sz="15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≥ 3,0</a:t>
                      </a:r>
                      <a:endParaRPr lang="en-US" sz="15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Estado mental</a:t>
                      </a:r>
                      <a:endParaRPr lang="en-US" sz="15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Alerta</a:t>
                      </a:r>
                      <a:endParaRPr lang="en-US" sz="15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Alerta / somnoliento</a:t>
                      </a:r>
                      <a:endParaRPr lang="en-US" sz="15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Estupor / coma</a:t>
                      </a:r>
                      <a:endParaRPr lang="en-US" sz="15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card"/>
          <p:cNvSpPr/>
          <p:nvPr/>
        </p:nvSpPr>
        <p:spPr>
          <a:xfrm>
            <a:off x="7863840" y="1508760"/>
            <a:ext cx="3776472" cy="4526280"/>
          </a:xfrm>
          <a:prstGeom prst="roundRect">
            <a:avLst>
              <a:gd name="adj" fmla="val 2906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3293D">
                <a:alpha val="12000"/>
              </a:srgbClr>
            </a:outerShdw>
          </a:effectLst>
        </p:spPr>
      </p:sp>
      <p:sp>
        <p:nvSpPr>
          <p:cNvPr id="8" name="icon circle"/>
          <p:cNvSpPr/>
          <p:nvPr/>
        </p:nvSpPr>
        <p:spPr>
          <a:xfrm>
            <a:off x="8092440" y="17373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icon FaHospital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0748" y="1915668"/>
            <a:ext cx="329184" cy="329184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8915400" y="173736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accent1"/>
                </a:solidFill>
              </a:rPr>
              <a:t>Criterios de UCI</a:t>
            </a:r>
            <a:endParaRPr lang="en-US" sz="1800" dirty="0"/>
          </a:p>
        </p:txBody>
      </p:sp>
      <p:sp>
        <p:nvSpPr>
          <p:cNvPr id="11" name="Text 6"/>
          <p:cNvSpPr txBox="1"/>
          <p:nvPr/>
        </p:nvSpPr>
        <p:spPr>
          <a:xfrm>
            <a:off x="8092440" y="2606040"/>
            <a:ext cx="33832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CAD severa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SHH o estado mixto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Compromiso de conciencia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Causa crítica: sepsis, IAM, HDA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Inestabilidad hemodinámica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Embarazo</a:t>
            </a:r>
            <a:endParaRPr lang="en-US" sz="1600" dirty="0"/>
          </a:p>
        </p:txBody>
      </p:sp>
      <p:sp>
        <p:nvSpPr>
          <p:cNvPr id="12" name="Text 7"/>
          <p:cNvSpPr txBox="1"/>
          <p:nvPr/>
        </p:nvSpPr>
        <p:spPr>
          <a:xfrm>
            <a:off x="548640" y="493776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i="1" dirty="0">
                <a:solidFill>
                  <a:schemeClr val="accent6"/>
                </a:solidFill>
              </a:rPr>
              <a:t>Fuente: Umpierrez GE et al. Diabetes Care 2024;47:1257-75.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9326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Tratamiento: objetivos terapéuticos</a:t>
            </a:r>
            <a:endParaRPr lang="en-US" sz="3200" dirty="0"/>
          </a:p>
        </p:txBody>
      </p:sp>
      <p:sp>
        <p:nvSpPr>
          <p:cNvPr id="3" name="chip seccion"/>
          <p:cNvSpPr/>
          <p:nvPr/>
        </p:nvSpPr>
        <p:spPr>
          <a:xfrm>
            <a:off x="11085271" y="548640"/>
            <a:ext cx="557784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1085271" y="548640"/>
            <a:ext cx="557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chemeClr val="bg1"/>
                </a:solidFill>
              </a:rPr>
              <a:t>CAD</a:t>
            </a:r>
            <a:endParaRPr lang="en-US" sz="1100" dirty="0"/>
          </a:p>
        </p:txBody>
      </p:sp>
      <p:sp>
        <p:nvSpPr>
          <p:cNvPr id="6" name="card"/>
          <p:cNvSpPr/>
          <p:nvPr/>
        </p:nvSpPr>
        <p:spPr>
          <a:xfrm>
            <a:off x="548640" y="1737360"/>
            <a:ext cx="2057400" cy="356616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3293D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685800" y="18288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icon circle"/>
          <p:cNvSpPr/>
          <p:nvPr/>
        </p:nvSpPr>
        <p:spPr>
          <a:xfrm>
            <a:off x="1143000" y="224028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icon FaBottleDrople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8857" y="2466137"/>
            <a:ext cx="416966" cy="41696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85800" y="3337560"/>
            <a:ext cx="1783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Restablecer volumen circulante y perfusión tisular</a:t>
            </a:r>
            <a:endParaRPr lang="en-US" sz="1600" dirty="0"/>
          </a:p>
        </p:txBody>
      </p:sp>
      <p:sp>
        <p:nvSpPr>
          <p:cNvPr id="11" name="card"/>
          <p:cNvSpPr/>
          <p:nvPr/>
        </p:nvSpPr>
        <p:spPr>
          <a:xfrm>
            <a:off x="2816352" y="1737360"/>
            <a:ext cx="2057400" cy="356616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3293D">
                <a:alpha val="12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2953512" y="18288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icon circle"/>
          <p:cNvSpPr/>
          <p:nvPr/>
        </p:nvSpPr>
        <p:spPr>
          <a:xfrm>
            <a:off x="3410712" y="224028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icon FaArrowTrendDow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6569" y="2466137"/>
            <a:ext cx="416966" cy="41696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2953512" y="3337560"/>
            <a:ext cx="1783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Reducir gradualmente la glicemia y la osmolalidad</a:t>
            </a:r>
            <a:endParaRPr lang="en-US" sz="1600" dirty="0"/>
          </a:p>
        </p:txBody>
      </p:sp>
      <p:sp>
        <p:nvSpPr>
          <p:cNvPr id="16" name="card"/>
          <p:cNvSpPr/>
          <p:nvPr/>
        </p:nvSpPr>
        <p:spPr>
          <a:xfrm>
            <a:off x="5084064" y="1737360"/>
            <a:ext cx="2057400" cy="356616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3293D">
                <a:alpha val="12000"/>
              </a:srgbClr>
            </a:outerShdw>
          </a:effectLst>
        </p:spPr>
      </p:sp>
      <p:sp>
        <p:nvSpPr>
          <p:cNvPr id="17" name="Text 12"/>
          <p:cNvSpPr txBox="1"/>
          <p:nvPr/>
        </p:nvSpPr>
        <p:spPr>
          <a:xfrm>
            <a:off x="5221224" y="18288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icon circle"/>
          <p:cNvSpPr/>
          <p:nvPr/>
        </p:nvSpPr>
        <p:spPr>
          <a:xfrm>
            <a:off x="5678424" y="224028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9" name="icon FaFlask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4281" y="2466137"/>
            <a:ext cx="416966" cy="416966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5221224" y="3337560"/>
            <a:ext cx="1783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Corregir la cetoacidosis</a:t>
            </a:r>
            <a:endParaRPr lang="en-US" sz="1600" dirty="0"/>
          </a:p>
        </p:txBody>
      </p:sp>
      <p:sp>
        <p:nvSpPr>
          <p:cNvPr id="21" name="card"/>
          <p:cNvSpPr/>
          <p:nvPr/>
        </p:nvSpPr>
        <p:spPr>
          <a:xfrm>
            <a:off x="7351776" y="1737360"/>
            <a:ext cx="2057400" cy="356616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3293D">
                <a:alpha val="12000"/>
              </a:srgbClr>
            </a:outerShdw>
          </a:effectLst>
        </p:spPr>
      </p:sp>
      <p:sp>
        <p:nvSpPr>
          <p:cNvPr id="22" name="Text 16"/>
          <p:cNvSpPr txBox="1"/>
          <p:nvPr/>
        </p:nvSpPr>
        <p:spPr>
          <a:xfrm>
            <a:off x="7488936" y="18288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icon circle"/>
          <p:cNvSpPr/>
          <p:nvPr/>
        </p:nvSpPr>
        <p:spPr>
          <a:xfrm>
            <a:off x="7946136" y="224028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4" name="icon FaBolt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1993" y="2466137"/>
            <a:ext cx="416966" cy="416966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7488936" y="3337560"/>
            <a:ext cx="1783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Corregir el desbalance electrolítico (K⁺)</a:t>
            </a:r>
            <a:endParaRPr lang="en-US" sz="1600" dirty="0"/>
          </a:p>
        </p:txBody>
      </p:sp>
      <p:sp>
        <p:nvSpPr>
          <p:cNvPr id="26" name="card"/>
          <p:cNvSpPr/>
          <p:nvPr/>
        </p:nvSpPr>
        <p:spPr>
          <a:xfrm>
            <a:off x="9619488" y="1737360"/>
            <a:ext cx="2057400" cy="356616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3293D">
                <a:alpha val="12000"/>
              </a:srgbClr>
            </a:outerShdw>
          </a:effectLst>
        </p:spPr>
      </p:sp>
      <p:sp>
        <p:nvSpPr>
          <p:cNvPr id="27" name="Text 20"/>
          <p:cNvSpPr txBox="1"/>
          <p:nvPr/>
        </p:nvSpPr>
        <p:spPr>
          <a:xfrm>
            <a:off x="9756648" y="18288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8" name="icon circle"/>
          <p:cNvSpPr/>
          <p:nvPr/>
        </p:nvSpPr>
        <p:spPr>
          <a:xfrm>
            <a:off x="10213848" y="224028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9" name="icon FaMagnifyingGlass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39705" y="2466137"/>
            <a:ext cx="416966" cy="416966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9756648" y="3337560"/>
            <a:ext cx="1783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Identificar y tratar el factor desencadenante</a:t>
            </a:r>
            <a:endParaRPr lang="en-US" sz="1600" dirty="0"/>
          </a:p>
        </p:txBody>
      </p:sp>
      <p:sp>
        <p:nvSpPr>
          <p:cNvPr id="31" name="Text 23"/>
          <p:cNvSpPr txBox="1"/>
          <p:nvPr/>
        </p:nvSpPr>
        <p:spPr>
          <a:xfrm>
            <a:off x="548640" y="55778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accent1"/>
                </a:solidFill>
              </a:rPr>
              <a:t>Secuencia segura:  1° Volumen  →  2° Potasio ≥ 3,5  →  3° Insulina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9326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Reposición de volumen</a:t>
            </a:r>
            <a:endParaRPr lang="en-US" sz="3200" dirty="0"/>
          </a:p>
        </p:txBody>
      </p:sp>
      <p:sp>
        <p:nvSpPr>
          <p:cNvPr id="3" name="chip seccion"/>
          <p:cNvSpPr/>
          <p:nvPr/>
        </p:nvSpPr>
        <p:spPr>
          <a:xfrm>
            <a:off x="11085271" y="548640"/>
            <a:ext cx="557784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1085271" y="548640"/>
            <a:ext cx="557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chemeClr val="bg1"/>
                </a:solidFill>
              </a:rPr>
              <a:t>CAD</a:t>
            </a:r>
            <a:endParaRPr lang="en-US" sz="1100" dirty="0"/>
          </a:p>
        </p:txBody>
      </p:sp>
      <p:sp>
        <p:nvSpPr>
          <p:cNvPr id="6" name="card"/>
          <p:cNvSpPr/>
          <p:nvPr/>
        </p:nvSpPr>
        <p:spPr>
          <a:xfrm>
            <a:off x="548640" y="1463040"/>
            <a:ext cx="749808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3293D">
                <a:alpha val="12000"/>
              </a:srgbClr>
            </a:outerShdw>
          </a:effectLst>
        </p:spPr>
      </p:sp>
      <p:sp>
        <p:nvSpPr>
          <p:cNvPr id="7" name="etapa"/>
          <p:cNvSpPr/>
          <p:nvPr/>
        </p:nvSpPr>
        <p:spPr>
          <a:xfrm>
            <a:off x="731520" y="1691640"/>
            <a:ext cx="1737360" cy="82296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31520" y="16916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Hora 0–4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2697480" y="146304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SF 0,9% o cristaloide balanceado (Ringer lactato / Plasma-Lyte)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309360" y="1463040"/>
            <a:ext cx="1600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accent1"/>
                </a:solidFill>
              </a:rPr>
              <a:t>500–1000 mL/h</a:t>
            </a:r>
            <a:endParaRPr lang="en-US" sz="1700" dirty="0"/>
          </a:p>
        </p:txBody>
      </p:sp>
      <p:sp>
        <p:nvSpPr>
          <p:cNvPr id="11" name="card"/>
          <p:cNvSpPr/>
          <p:nvPr/>
        </p:nvSpPr>
        <p:spPr>
          <a:xfrm>
            <a:off x="548640" y="2971800"/>
            <a:ext cx="749808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3293D">
                <a:alpha val="12000"/>
              </a:srgbClr>
            </a:outerShdw>
          </a:effectLst>
        </p:spPr>
      </p:sp>
      <p:sp>
        <p:nvSpPr>
          <p:cNvPr id="12" name="etapa"/>
          <p:cNvSpPr/>
          <p:nvPr/>
        </p:nvSpPr>
        <p:spPr>
          <a:xfrm>
            <a:off x="731520" y="3200400"/>
            <a:ext cx="1737360" cy="82296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31520" y="320040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Después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2697480" y="297180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Ajustar según hemodinamia, diuresis y Na⁺ corregido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6309360" y="2971800"/>
            <a:ext cx="1600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accent1"/>
                </a:solidFill>
              </a:rPr>
              <a:t>250–500 mL/h</a:t>
            </a:r>
            <a:endParaRPr lang="en-US" sz="1700" dirty="0"/>
          </a:p>
        </p:txBody>
      </p:sp>
      <p:sp>
        <p:nvSpPr>
          <p:cNvPr id="16" name="card"/>
          <p:cNvSpPr/>
          <p:nvPr/>
        </p:nvSpPr>
        <p:spPr>
          <a:xfrm>
            <a:off x="548640" y="4480560"/>
            <a:ext cx="749808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3293D">
                <a:alpha val="12000"/>
              </a:srgbClr>
            </a:outerShdw>
          </a:effectLst>
        </p:spPr>
      </p:sp>
      <p:sp>
        <p:nvSpPr>
          <p:cNvPr id="17" name="etapa"/>
          <p:cNvSpPr/>
          <p:nvPr/>
        </p:nvSpPr>
        <p:spPr>
          <a:xfrm>
            <a:off x="731520" y="4709160"/>
            <a:ext cx="1737360" cy="82296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31520" y="470916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Glicemia &lt; 250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2697480" y="448056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Agregar dextrosa 5–10% y mantener insulina hasta resolver cetoacidosis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6309360" y="4480560"/>
            <a:ext cx="1600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accent1"/>
                </a:solidFill>
              </a:rPr>
              <a:t>Evita hipoglicemia</a:t>
            </a:r>
            <a:endParaRPr lang="en-US" sz="1700" dirty="0"/>
          </a:p>
        </p:txBody>
      </p:sp>
      <p:sp>
        <p:nvSpPr>
          <p:cNvPr id="21" name="card"/>
          <p:cNvSpPr/>
          <p:nvPr/>
        </p:nvSpPr>
        <p:spPr>
          <a:xfrm>
            <a:off x="8321040" y="1463040"/>
            <a:ext cx="3319272" cy="4297680"/>
          </a:xfrm>
          <a:prstGeom prst="roundRect">
            <a:avLst>
              <a:gd name="adj" fmla="val 3306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3293D">
                <a:alpha val="12000"/>
              </a:srgbClr>
            </a:outerShdw>
          </a:effectLst>
        </p:spPr>
      </p:sp>
      <p:sp>
        <p:nvSpPr>
          <p:cNvPr id="22" name="icon circle"/>
          <p:cNvSpPr/>
          <p:nvPr/>
        </p:nvSpPr>
        <p:spPr>
          <a:xfrm>
            <a:off x="8549640" y="1691640"/>
            <a:ext cx="685800" cy="6858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3" name="icon FaUserNurs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27948" y="1869948"/>
            <a:ext cx="329184" cy="329184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9372600" y="16916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accent4"/>
                </a:solidFill>
              </a:rPr>
              <a:t>Enfermería</a:t>
            </a:r>
            <a:endParaRPr lang="en-US" sz="1800" dirty="0"/>
          </a:p>
        </p:txBody>
      </p:sp>
      <p:sp>
        <p:nvSpPr>
          <p:cNvPr id="25" name="Text 21"/>
          <p:cNvSpPr txBox="1"/>
          <p:nvPr/>
        </p:nvSpPr>
        <p:spPr>
          <a:xfrm>
            <a:off x="8549640" y="2560320"/>
            <a:ext cx="29260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2 VVP de grueso calibre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Infusión por bomba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Balance hídrico horario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Diuresis meta ≥ 0,5 mL/kg/h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Vigilar sobrecarga: crépitos, SpO₂, ingurgitación yugular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9326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Reposición de potasio</a:t>
            </a:r>
            <a:endParaRPr lang="en-US" sz="3200" dirty="0"/>
          </a:p>
        </p:txBody>
      </p:sp>
      <p:sp>
        <p:nvSpPr>
          <p:cNvPr id="3" name="chip seccion"/>
          <p:cNvSpPr/>
          <p:nvPr/>
        </p:nvSpPr>
        <p:spPr>
          <a:xfrm>
            <a:off x="11085271" y="548640"/>
            <a:ext cx="557784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1085271" y="548640"/>
            <a:ext cx="557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chemeClr val="bg1"/>
                </a:solidFill>
              </a:rPr>
              <a:t>CAD</a:t>
            </a:r>
            <a:endParaRPr lang="en-US" sz="1100" dirty="0"/>
          </a:p>
        </p:txBody>
      </p:sp>
      <p:sp>
        <p:nvSpPr>
          <p:cNvPr id="6" name="rango K"/>
          <p:cNvSpPr/>
          <p:nvPr/>
        </p:nvSpPr>
        <p:spPr>
          <a:xfrm>
            <a:off x="548640" y="1463040"/>
            <a:ext cx="2377440" cy="960120"/>
          </a:xfrm>
          <a:prstGeom prst="roundRect">
            <a:avLst>
              <a:gd name="adj" fmla="val 9524"/>
            </a:avLst>
          </a:prstGeom>
          <a:solidFill>
            <a:srgbClr val="2C6E9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48640" y="146304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K⁺ &gt; 5,0</a:t>
            </a:r>
            <a:endParaRPr lang="en-US" sz="2200" dirty="0"/>
          </a:p>
        </p:txBody>
      </p:sp>
      <p:sp>
        <p:nvSpPr>
          <p:cNvPr id="8" name="card"/>
          <p:cNvSpPr/>
          <p:nvPr/>
        </p:nvSpPr>
        <p:spPr>
          <a:xfrm>
            <a:off x="3063240" y="1463040"/>
            <a:ext cx="457200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3246120" y="1463040"/>
            <a:ext cx="4297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No administrar K⁺. Controlar cada 2 h.</a:t>
            </a:r>
            <a:endParaRPr lang="en-US" sz="1600" dirty="0"/>
          </a:p>
        </p:txBody>
      </p:sp>
      <p:sp>
        <p:nvSpPr>
          <p:cNvPr id="10" name="rango K"/>
          <p:cNvSpPr/>
          <p:nvPr/>
        </p:nvSpPr>
        <p:spPr>
          <a:xfrm>
            <a:off x="548640" y="2651760"/>
            <a:ext cx="2377440" cy="960120"/>
          </a:xfrm>
          <a:prstGeom prst="roundRect">
            <a:avLst>
              <a:gd name="adj" fmla="val 9524"/>
            </a:avLst>
          </a:prstGeom>
          <a:solidFill>
            <a:srgbClr val="1F8A7E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48640" y="265176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K⁺ 3,5 – 5,0</a:t>
            </a:r>
            <a:endParaRPr lang="en-US" sz="2200" dirty="0"/>
          </a:p>
        </p:txBody>
      </p:sp>
      <p:sp>
        <p:nvSpPr>
          <p:cNvPr id="12" name="card"/>
          <p:cNvSpPr/>
          <p:nvPr/>
        </p:nvSpPr>
        <p:spPr>
          <a:xfrm>
            <a:off x="3063240" y="2651760"/>
            <a:ext cx="457200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3246120" y="2651760"/>
            <a:ext cx="4297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20–30 mEq de K⁺ por cada litro de solución.</a:t>
            </a:r>
            <a:endParaRPr lang="en-US" sz="1600" dirty="0"/>
          </a:p>
        </p:txBody>
      </p:sp>
      <p:sp>
        <p:nvSpPr>
          <p:cNvPr id="14" name="rango K"/>
          <p:cNvSpPr/>
          <p:nvPr/>
        </p:nvSpPr>
        <p:spPr>
          <a:xfrm>
            <a:off x="548640" y="3840480"/>
            <a:ext cx="2377440" cy="960120"/>
          </a:xfrm>
          <a:prstGeom prst="roundRect">
            <a:avLst>
              <a:gd name="adj" fmla="val 9524"/>
            </a:avLst>
          </a:prstGeom>
          <a:solidFill>
            <a:srgbClr val="D63A47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548640" y="384048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K⁺ &lt; 3,5</a:t>
            </a:r>
            <a:endParaRPr lang="en-US" sz="2200" dirty="0"/>
          </a:p>
        </p:txBody>
      </p:sp>
      <p:sp>
        <p:nvSpPr>
          <p:cNvPr id="16" name="card"/>
          <p:cNvSpPr/>
          <p:nvPr/>
        </p:nvSpPr>
        <p:spPr>
          <a:xfrm>
            <a:off x="3063240" y="3840480"/>
            <a:ext cx="457200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3246120" y="3840480"/>
            <a:ext cx="4297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K⁺ 10 mEq/h y DIFERIR la insulina hasta K⁺ &gt; 3,5.</a:t>
            </a:r>
            <a:endParaRPr lang="en-US" sz="1600" dirty="0"/>
          </a:p>
        </p:txBody>
      </p:sp>
      <p:sp>
        <p:nvSpPr>
          <p:cNvPr id="18" name="card"/>
          <p:cNvSpPr/>
          <p:nvPr/>
        </p:nvSpPr>
        <p:spPr>
          <a:xfrm>
            <a:off x="548640" y="5120640"/>
            <a:ext cx="708660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31520" y="512064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Control de K⁺ a las 2 h de iniciar insulina y luego cada 4 h hasta resolución.</a:t>
            </a:r>
            <a:endParaRPr lang="en-US" sz="1500" dirty="0"/>
          </a:p>
        </p:txBody>
      </p:sp>
      <p:sp>
        <p:nvSpPr>
          <p:cNvPr id="20" name="card"/>
          <p:cNvSpPr/>
          <p:nvPr/>
        </p:nvSpPr>
        <p:spPr>
          <a:xfrm>
            <a:off x="7955280" y="1463040"/>
            <a:ext cx="3685032" cy="4572000"/>
          </a:xfrm>
          <a:prstGeom prst="roundRect">
            <a:avLst>
              <a:gd name="adj" fmla="val 2978"/>
            </a:avLst>
          </a:prstGeom>
          <a:solidFill>
            <a:schemeClr val="tx1"/>
          </a:solidFill>
          <a:ln/>
        </p:spPr>
      </p:sp>
      <p:sp>
        <p:nvSpPr>
          <p:cNvPr id="21" name="icon circle"/>
          <p:cNvSpPr/>
          <p:nvPr/>
        </p:nvSpPr>
        <p:spPr>
          <a:xfrm>
            <a:off x="8183880" y="169164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2" name="icon FaTriangleExclamati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2188" y="1869948"/>
            <a:ext cx="329184" cy="329184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9006840" y="169164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900" b="1" dirty="0">
                <a:solidFill>
                  <a:schemeClr val="bg1"/>
                </a:solidFill>
              </a:rPr>
              <a:t>Seguridad</a:t>
            </a:r>
            <a:endParaRPr lang="en-US" sz="1900" dirty="0"/>
          </a:p>
        </p:txBody>
      </p:sp>
      <p:sp>
        <p:nvSpPr>
          <p:cNvPr id="24" name="Text 20"/>
          <p:cNvSpPr txBox="1"/>
          <p:nvPr/>
        </p:nvSpPr>
        <p:spPr>
          <a:xfrm>
            <a:off x="8183880" y="2560320"/>
            <a:ext cx="3291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Nunca en bolo IV directo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Siempre por bomba de infusión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Monitor ECG continuo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Verificar diuresis antes de reponer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Doble chequeo: medicamento de alto riesgo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9326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Insulinoterapia</a:t>
            </a:r>
            <a:endParaRPr lang="en-US" sz="3200" dirty="0"/>
          </a:p>
        </p:txBody>
      </p:sp>
      <p:sp>
        <p:nvSpPr>
          <p:cNvPr id="3" name="chip seccion"/>
          <p:cNvSpPr/>
          <p:nvPr/>
        </p:nvSpPr>
        <p:spPr>
          <a:xfrm>
            <a:off x="11085271" y="548640"/>
            <a:ext cx="557784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1085271" y="548640"/>
            <a:ext cx="557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chemeClr val="bg1"/>
                </a:solidFill>
              </a:rPr>
              <a:t>CAD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37160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i="1" dirty="0">
                <a:solidFill>
                  <a:schemeClr val="accent6"/>
                </a:solidFill>
              </a:rPr>
              <a:t>La insulina se inicia después de iniciar volumen y con K⁺ ≥ 3,5 mmol/L</a:t>
            </a:r>
            <a:endParaRPr lang="en-US" sz="1500" dirty="0"/>
          </a:p>
        </p:txBody>
      </p:sp>
      <p:sp>
        <p:nvSpPr>
          <p:cNvPr id="7" name="paso 1"/>
          <p:cNvSpPr/>
          <p:nvPr/>
        </p:nvSpPr>
        <p:spPr>
          <a:xfrm>
            <a:off x="548640" y="1874520"/>
            <a:ext cx="6583680" cy="749808"/>
          </a:xfrm>
          <a:prstGeom prst="roundRect">
            <a:avLst>
              <a:gd name="adj" fmla="val 12195"/>
            </a:avLst>
          </a:prstGeom>
          <a:solidFill>
            <a:schemeClr val="accent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85800" y="1874520"/>
            <a:ext cx="6309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Infusión IV fija: 0,1 U/kg/h (sin bolo rutinario)</a:t>
            </a:r>
            <a:endParaRPr lang="en-US" sz="1500" dirty="0"/>
          </a:p>
        </p:txBody>
      </p:sp>
      <p:sp>
        <p:nvSpPr>
          <p:cNvPr id="9" name="flecha"/>
          <p:cNvSpPr/>
          <p:nvPr/>
        </p:nvSpPr>
        <p:spPr>
          <a:xfrm>
            <a:off x="3721608" y="2660904"/>
            <a:ext cx="237744" cy="274320"/>
          </a:xfrm>
          <a:prstGeom prst="downArrow">
            <a:avLst/>
          </a:prstGeom>
          <a:solidFill>
            <a:schemeClr val="accent1"/>
          </a:solidFill>
          <a:ln/>
        </p:spPr>
      </p:sp>
      <p:sp>
        <p:nvSpPr>
          <p:cNvPr id="10" name="paso 2"/>
          <p:cNvSpPr/>
          <p:nvPr/>
        </p:nvSpPr>
        <p:spPr>
          <a:xfrm>
            <a:off x="548640" y="2971800"/>
            <a:ext cx="6583680" cy="749808"/>
          </a:xfrm>
          <a:prstGeom prst="roundRect">
            <a:avLst>
              <a:gd name="adj" fmla="val 12195"/>
            </a:avLst>
          </a:prstGeom>
          <a:solidFill>
            <a:schemeClr val="bg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85800" y="2971800"/>
            <a:ext cx="6309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Glicemia &lt; 250 mg/dL → reducir a 0,05 U/kg/h + dextrosa 5–10%</a:t>
            </a:r>
            <a:endParaRPr lang="en-US" sz="1500" dirty="0"/>
          </a:p>
        </p:txBody>
      </p:sp>
      <p:sp>
        <p:nvSpPr>
          <p:cNvPr id="12" name="flecha"/>
          <p:cNvSpPr/>
          <p:nvPr/>
        </p:nvSpPr>
        <p:spPr>
          <a:xfrm>
            <a:off x="3721608" y="3758184"/>
            <a:ext cx="237744" cy="274320"/>
          </a:xfrm>
          <a:prstGeom prst="downArrow">
            <a:avLst/>
          </a:prstGeom>
          <a:solidFill>
            <a:schemeClr val="accent1"/>
          </a:solidFill>
          <a:ln/>
        </p:spPr>
      </p:sp>
      <p:sp>
        <p:nvSpPr>
          <p:cNvPr id="13" name="paso 3"/>
          <p:cNvSpPr/>
          <p:nvPr/>
        </p:nvSpPr>
        <p:spPr>
          <a:xfrm>
            <a:off x="548640" y="4069080"/>
            <a:ext cx="6583680" cy="749808"/>
          </a:xfrm>
          <a:prstGeom prst="roundRect">
            <a:avLst>
              <a:gd name="adj" fmla="val 12195"/>
            </a:avLst>
          </a:prstGeom>
          <a:solidFill>
            <a:schemeClr val="bg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85800" y="4069080"/>
            <a:ext cx="6309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Mantener glicemia ~ 200 mg/dL</a:t>
            </a:r>
            <a:endParaRPr lang="en-US" sz="1500" dirty="0"/>
          </a:p>
        </p:txBody>
      </p:sp>
      <p:sp>
        <p:nvSpPr>
          <p:cNvPr id="15" name="flecha"/>
          <p:cNvSpPr/>
          <p:nvPr/>
        </p:nvSpPr>
        <p:spPr>
          <a:xfrm>
            <a:off x="3721608" y="4855464"/>
            <a:ext cx="237744" cy="274320"/>
          </a:xfrm>
          <a:prstGeom prst="downArrow">
            <a:avLst/>
          </a:prstGeom>
          <a:solidFill>
            <a:schemeClr val="accent1"/>
          </a:solidFill>
          <a:ln/>
        </p:spPr>
      </p:sp>
      <p:sp>
        <p:nvSpPr>
          <p:cNvPr id="16" name="paso 4"/>
          <p:cNvSpPr/>
          <p:nvPr/>
        </p:nvSpPr>
        <p:spPr>
          <a:xfrm>
            <a:off x="548640" y="5166360"/>
            <a:ext cx="6583680" cy="749808"/>
          </a:xfrm>
          <a:prstGeom prst="roundRect">
            <a:avLst>
              <a:gd name="adj" fmla="val 12195"/>
            </a:avLst>
          </a:prstGeom>
          <a:solidFill>
            <a:schemeClr val="accent1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85800" y="5166360"/>
            <a:ext cx="6309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Continuar hasta resolver la cetoacidosis (no la glicemia)</a:t>
            </a:r>
            <a:endParaRPr lang="en-US" sz="1500" dirty="0"/>
          </a:p>
        </p:txBody>
      </p:sp>
      <p:sp>
        <p:nvSpPr>
          <p:cNvPr id="18" name="card"/>
          <p:cNvSpPr/>
          <p:nvPr/>
        </p:nvSpPr>
        <p:spPr>
          <a:xfrm>
            <a:off x="7498080" y="1371600"/>
            <a:ext cx="4142232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3293D">
                <a:alpha val="12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7726680" y="15087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CAD leve–moderada no complicada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7726680" y="1965960"/>
            <a:ext cx="3749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Análogo rápido SC cada 1–2 h es alternativa eficaz a la infusión IV; puede manejarse fuera de UCI. No en CAD severa ni SHH.</a:t>
            </a:r>
            <a:endParaRPr lang="en-US" sz="1400" dirty="0"/>
          </a:p>
        </p:txBody>
      </p:sp>
      <p:sp>
        <p:nvSpPr>
          <p:cNvPr id="21" name="card"/>
          <p:cNvSpPr/>
          <p:nvPr/>
        </p:nvSpPr>
        <p:spPr>
          <a:xfrm>
            <a:off x="7498080" y="3840480"/>
            <a:ext cx="4142232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3293D">
                <a:alpha val="12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7726680" y="39776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Insulina basal precoz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7726680" y="4434840"/>
            <a:ext cx="3749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Glargina 0,15–0,3 U/kg SC junto a la infusión: menos rebote, resolución más rápida, sin más hipoglicemia.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9326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Bicarbonato y fosfato: uso restringido</a:t>
            </a:r>
            <a:endParaRPr lang="en-US" sz="3200" dirty="0"/>
          </a:p>
        </p:txBody>
      </p:sp>
      <p:sp>
        <p:nvSpPr>
          <p:cNvPr id="3" name="chip seccion"/>
          <p:cNvSpPr/>
          <p:nvPr/>
        </p:nvSpPr>
        <p:spPr>
          <a:xfrm>
            <a:off x="11085271" y="548640"/>
            <a:ext cx="557784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1085271" y="548640"/>
            <a:ext cx="557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chemeClr val="bg1"/>
                </a:solidFill>
              </a:rPr>
              <a:t>CAD</a:t>
            </a:r>
            <a:endParaRPr lang="en-US" sz="1100" dirty="0"/>
          </a:p>
        </p:txBody>
      </p:sp>
      <p:sp>
        <p:nvSpPr>
          <p:cNvPr id="6" name="card"/>
          <p:cNvSpPr/>
          <p:nvPr/>
        </p:nvSpPr>
        <p:spPr>
          <a:xfrm>
            <a:off x="548640" y="1463040"/>
            <a:ext cx="5410048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3293D">
                <a:alpha val="12000"/>
              </a:srgbClr>
            </a:outerShdw>
          </a:effectLst>
        </p:spPr>
      </p:sp>
      <p:sp>
        <p:nvSpPr>
          <p:cNvPr id="7" name="icon circle"/>
          <p:cNvSpPr/>
          <p:nvPr/>
        </p:nvSpPr>
        <p:spPr>
          <a:xfrm>
            <a:off x="777240" y="16916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icon FaFlask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3661" y="1858061"/>
            <a:ext cx="307238" cy="30723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554480" y="1691640"/>
            <a:ext cx="4221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accent1"/>
                </a:solidFill>
              </a:rPr>
              <a:t>Bicarbonato de sodio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2468880"/>
            <a:ext cx="495284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No rutinario. Considerar solo si pH &lt; 7,0: 100 mmol de NaHCO₃ 8,4% en 400 mL de agua estéril en 2 h, repetir hasta pH &gt; 7,0. Aporte de K⁺ concomitante.</a:t>
            </a:r>
            <a:endParaRPr lang="en-US" sz="1900" dirty="0"/>
          </a:p>
        </p:txBody>
      </p:sp>
      <p:sp>
        <p:nvSpPr>
          <p:cNvPr id="11" name="card"/>
          <p:cNvSpPr/>
          <p:nvPr/>
        </p:nvSpPr>
        <p:spPr>
          <a:xfrm>
            <a:off x="6233008" y="1463040"/>
            <a:ext cx="5410048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3293D">
                <a:alpha val="12000"/>
              </a:srgbClr>
            </a:outerShdw>
          </a:effectLst>
        </p:spPr>
      </p:sp>
      <p:sp>
        <p:nvSpPr>
          <p:cNvPr id="12" name="icon circle"/>
          <p:cNvSpPr/>
          <p:nvPr/>
        </p:nvSpPr>
        <p:spPr>
          <a:xfrm>
            <a:off x="6461608" y="16916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con FaVials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8028" y="1858061"/>
            <a:ext cx="307238" cy="30723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238848" y="1691640"/>
            <a:ext cx="4221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accent1"/>
                </a:solidFill>
              </a:rPr>
              <a:t>Fosfato</a:t>
            </a:r>
            <a:endParaRPr lang="en-US" sz="2000" dirty="0"/>
          </a:p>
        </p:txBody>
      </p:sp>
      <p:sp>
        <p:nvSpPr>
          <p:cNvPr id="15" name="Text 10"/>
          <p:cNvSpPr txBox="1"/>
          <p:nvPr/>
        </p:nvSpPr>
        <p:spPr>
          <a:xfrm>
            <a:off x="6461608" y="2468880"/>
            <a:ext cx="495284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No rutinario. Solo si fosfato &lt; 1,0 mg/dL con debilidad muscular, compromiso respiratorio o cardíaco: 20–30 mmol de fosfato de potasio en las soluciones.</a:t>
            </a:r>
            <a:endParaRPr lang="en-US" sz="1900" dirty="0"/>
          </a:p>
        </p:txBody>
      </p:sp>
      <p:sp>
        <p:nvSpPr>
          <p:cNvPr id="16" name="Text 11"/>
          <p:cNvSpPr txBox="1"/>
          <p:nvPr/>
        </p:nvSpPr>
        <p:spPr>
          <a:xfrm>
            <a:off x="548640" y="53949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i="1" dirty="0">
                <a:solidFill>
                  <a:schemeClr val="accent6"/>
                </a:solidFill>
              </a:rPr>
              <a:t>Cambio respecto a la versión anterior: el umbral de bicarbonato pasó de pH &lt; 6,9 a pH &lt; 7,0.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9326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Resolución y transición a insulina SC</a:t>
            </a:r>
            <a:endParaRPr lang="en-US" sz="3200" dirty="0"/>
          </a:p>
        </p:txBody>
      </p:sp>
      <p:sp>
        <p:nvSpPr>
          <p:cNvPr id="3" name="chip seccion"/>
          <p:cNvSpPr/>
          <p:nvPr/>
        </p:nvSpPr>
        <p:spPr>
          <a:xfrm>
            <a:off x="11085271" y="548640"/>
            <a:ext cx="557784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1085271" y="548640"/>
            <a:ext cx="557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chemeClr val="bg1"/>
                </a:solidFill>
              </a:rPr>
              <a:t>CAD</a:t>
            </a:r>
            <a:endParaRPr lang="en-US" sz="1100" dirty="0"/>
          </a:p>
        </p:txBody>
      </p:sp>
      <p:sp>
        <p:nvSpPr>
          <p:cNvPr id="6" name="card"/>
          <p:cNvSpPr/>
          <p:nvPr/>
        </p:nvSpPr>
        <p:spPr>
          <a:xfrm>
            <a:off x="548640" y="1463040"/>
            <a:ext cx="5394960" cy="4572000"/>
          </a:xfrm>
          <a:prstGeom prst="roundRect">
            <a:avLst>
              <a:gd name="adj" fmla="val 2400"/>
            </a:avLst>
          </a:prstGeom>
          <a:solidFill>
            <a:schemeClr val="tx1"/>
          </a:solidFill>
          <a:ln/>
        </p:spPr>
      </p:sp>
      <p:sp>
        <p:nvSpPr>
          <p:cNvPr id="7" name="icon circle"/>
          <p:cNvSpPr/>
          <p:nvPr/>
        </p:nvSpPr>
        <p:spPr>
          <a:xfrm>
            <a:off x="822960" y="1737360"/>
            <a:ext cx="731520" cy="7315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8" name="icon FaCircleCheck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155" y="1927555"/>
            <a:ext cx="351130" cy="35113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737360" y="173736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chemeClr val="bg1"/>
                </a:solidFill>
              </a:rPr>
              <a:t>CAD resuelta si:</a:t>
            </a:r>
            <a:endParaRPr lang="en-US" sz="220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2743200"/>
            <a:ext cx="4846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200" b="1" dirty="0">
                <a:solidFill>
                  <a:schemeClr val="bg1"/>
                </a:solidFill>
              </a:rPr>
              <a:t>Cetonemia &lt; 0,6 mmol/L</a:t>
            </a:r>
            <a:endParaRPr lang="en-US" sz="2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200" dirty="0">
                <a:solidFill>
                  <a:schemeClr val="bg1"/>
                </a:solidFill>
              </a:rPr>
              <a:t>y</a:t>
            </a:r>
            <a:endParaRPr lang="en-US" sz="2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200" b="1" dirty="0">
                <a:solidFill>
                  <a:schemeClr val="bg1"/>
                </a:solidFill>
              </a:rPr>
              <a:t>pH venoso ≥ 7,3 </a:t>
            </a:r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bg1"/>
                </a:solidFill>
              </a:rPr>
              <a:t>o </a:t>
            </a:r>
            <a:pPr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chemeClr val="bg1"/>
                </a:solidFill>
              </a:rPr>
              <a:t>HCO₃⁻ ≥ 18 mmol/L</a:t>
            </a:r>
            <a:endParaRPr lang="en-US" sz="2200" dirty="0"/>
          </a:p>
        </p:txBody>
      </p:sp>
      <p:sp>
        <p:nvSpPr>
          <p:cNvPr id="11" name="Text 7"/>
          <p:cNvSpPr txBox="1"/>
          <p:nvPr/>
        </p:nvSpPr>
        <p:spPr>
          <a:xfrm>
            <a:off x="6309360" y="146304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900" b="1" dirty="0">
                <a:solidFill>
                  <a:schemeClr val="accent1"/>
                </a:solidFill>
              </a:rPr>
              <a:t>Transición</a:t>
            </a:r>
            <a:endParaRPr lang="en-US" sz="1900" dirty="0"/>
          </a:p>
        </p:txBody>
      </p:sp>
      <p:sp>
        <p:nvSpPr>
          <p:cNvPr id="12" name="num"/>
          <p:cNvSpPr/>
          <p:nvPr/>
        </p:nvSpPr>
        <p:spPr>
          <a:xfrm>
            <a:off x="6309360" y="21031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630936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7132320" y="201168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Paciente capaz de comer y CAD resuelta</a:t>
            </a:r>
            <a:endParaRPr lang="en-US" sz="1600" dirty="0"/>
          </a:p>
        </p:txBody>
      </p:sp>
      <p:sp>
        <p:nvSpPr>
          <p:cNvPr id="15" name="num"/>
          <p:cNvSpPr/>
          <p:nvPr/>
        </p:nvSpPr>
        <p:spPr>
          <a:xfrm>
            <a:off x="6309360" y="3090672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6309360" y="30906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7" name="Text 13"/>
          <p:cNvSpPr txBox="1"/>
          <p:nvPr/>
        </p:nvSpPr>
        <p:spPr>
          <a:xfrm>
            <a:off x="7132320" y="2999232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Insulina basal SC 1–2 h ANTES de suspender la infusión IV</a:t>
            </a:r>
            <a:endParaRPr lang="en-US" sz="1600" dirty="0"/>
          </a:p>
        </p:txBody>
      </p:sp>
      <p:sp>
        <p:nvSpPr>
          <p:cNvPr id="18" name="num"/>
          <p:cNvSpPr/>
          <p:nvPr/>
        </p:nvSpPr>
        <p:spPr>
          <a:xfrm>
            <a:off x="6309360" y="4078224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6309360" y="407822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20" name="Text 16"/>
          <p:cNvSpPr txBox="1"/>
          <p:nvPr/>
        </p:nvSpPr>
        <p:spPr>
          <a:xfrm>
            <a:off x="7132320" y="3986784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Dosis total diaria estimada ~0,5–0,6 U/kg/día (basal + prandial)</a:t>
            </a:r>
            <a:endParaRPr lang="en-US" sz="1600" dirty="0"/>
          </a:p>
        </p:txBody>
      </p:sp>
      <p:sp>
        <p:nvSpPr>
          <p:cNvPr id="21" name="num"/>
          <p:cNvSpPr/>
          <p:nvPr/>
        </p:nvSpPr>
        <p:spPr>
          <a:xfrm>
            <a:off x="6309360" y="5065776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2" name="Text 18"/>
          <p:cNvSpPr txBox="1"/>
          <p:nvPr/>
        </p:nvSpPr>
        <p:spPr>
          <a:xfrm>
            <a:off x="6309360" y="506577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23" name="Text 19"/>
          <p:cNvSpPr txBox="1"/>
          <p:nvPr/>
        </p:nvSpPr>
        <p:spPr>
          <a:xfrm>
            <a:off x="7132320" y="4974336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Continuar dosis previa si ya usaba insulina basal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irculo seccion"/>
          <p:cNvSpPr/>
          <p:nvPr/>
        </p:nvSpPr>
        <p:spPr>
          <a:xfrm>
            <a:off x="8595360" y="1463040"/>
            <a:ext cx="4206240" cy="42062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" name="icono secci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0" y="2560320"/>
            <a:ext cx="2011680" cy="20116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73152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6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731520" y="1737360"/>
            <a:ext cx="7680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Síndrome hiperglicémico hiperosmolar (SHH)</a:t>
            </a:r>
            <a:endParaRPr lang="en-US" sz="40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731520" y="43434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Fisiopatología, diagnóstico y tratamiento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9326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SHH: definición</a:t>
            </a:r>
            <a:endParaRPr lang="en-US" sz="3200" dirty="0"/>
          </a:p>
        </p:txBody>
      </p:sp>
      <p:sp>
        <p:nvSpPr>
          <p:cNvPr id="3" name="chip seccion"/>
          <p:cNvSpPr/>
          <p:nvPr/>
        </p:nvSpPr>
        <p:spPr>
          <a:xfrm>
            <a:off x="11085271" y="548640"/>
            <a:ext cx="557784" cy="3657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1085271" y="548640"/>
            <a:ext cx="557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chemeClr val="bg1"/>
                </a:solidFill>
              </a:rPr>
              <a:t>SHH</a:t>
            </a:r>
            <a:endParaRPr lang="en-US" sz="1100" dirty="0"/>
          </a:p>
        </p:txBody>
      </p:sp>
      <p:sp>
        <p:nvSpPr>
          <p:cNvPr id="6" name="card"/>
          <p:cNvSpPr/>
          <p:nvPr/>
        </p:nvSpPr>
        <p:spPr>
          <a:xfrm>
            <a:off x="548640" y="1463040"/>
            <a:ext cx="6583680" cy="1645920"/>
          </a:xfrm>
          <a:prstGeom prst="roundRect">
            <a:avLst>
              <a:gd name="adj" fmla="val 6667"/>
            </a:avLst>
          </a:prstGeom>
          <a:solidFill>
            <a:schemeClr val="accent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22960" y="1463040"/>
            <a:ext cx="6035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900" b="1" dirty="0">
                <a:solidFill>
                  <a:schemeClr val="bg1"/>
                </a:solidFill>
              </a:rPr>
              <a:t>Hiperglicemia severa + hiperosmolaridad + deshidratación, con compromiso de conciencia variable y sin cetoacidosis significativa.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38328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accent2"/>
                </a:solidFill>
              </a:rPr>
              <a:t>Se diferencia de la CAD por: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794760"/>
            <a:ext cx="65836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Deshidratación mucho más severa</a:t>
            </a:r>
            <a:endParaRPr lang="en-US" sz="16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Hiperosmolaridad marcada</a:t>
            </a:r>
            <a:endParaRPr lang="en-US" sz="16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Lesión renal aguda frecuente</a:t>
            </a:r>
            <a:endParaRPr lang="en-US" sz="16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Instalación insidiosa (días a semanas)</a:t>
            </a:r>
            <a:endParaRPr lang="en-US" sz="16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Cetonemia ausente o leve</a:t>
            </a:r>
            <a:endParaRPr lang="en-US" sz="1600" dirty="0"/>
          </a:p>
        </p:txBody>
      </p:sp>
      <p:sp>
        <p:nvSpPr>
          <p:cNvPr id="10" name="card"/>
          <p:cNvSpPr/>
          <p:nvPr/>
        </p:nvSpPr>
        <p:spPr>
          <a:xfrm>
            <a:off x="7589520" y="1463040"/>
            <a:ext cx="4050792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3293D">
                <a:alpha val="12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7818120" y="164592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4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5–10 ×</a:t>
            </a:r>
            <a:endParaRPr lang="en-US" sz="4800" dirty="0"/>
          </a:p>
        </p:txBody>
      </p:sp>
      <p:sp>
        <p:nvSpPr>
          <p:cNvPr id="12" name="Text 9"/>
          <p:cNvSpPr txBox="1"/>
          <p:nvPr/>
        </p:nvSpPr>
        <p:spPr>
          <a:xfrm>
            <a:off x="7818120" y="26517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mortalidad respecto de la CAD</a:t>
            </a:r>
            <a:endParaRPr lang="en-US" sz="1600" dirty="0"/>
          </a:p>
        </p:txBody>
      </p:sp>
      <p:sp>
        <p:nvSpPr>
          <p:cNvPr id="13" name="card"/>
          <p:cNvSpPr/>
          <p:nvPr/>
        </p:nvSpPr>
        <p:spPr>
          <a:xfrm>
            <a:off x="7589520" y="3794760"/>
            <a:ext cx="4050792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3293D">
                <a:alpha val="12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7818120" y="397764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4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16%</a:t>
            </a:r>
            <a:endParaRPr lang="en-US" sz="4800" dirty="0"/>
          </a:p>
        </p:txBody>
      </p:sp>
      <p:sp>
        <p:nvSpPr>
          <p:cNvPr id="15" name="Text 12"/>
          <p:cNvSpPr txBox="1"/>
          <p:nvPr/>
        </p:nvSpPr>
        <p:spPr>
          <a:xfrm>
            <a:off x="7818120" y="49834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mortalidad a 30 días (serie italiana)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9326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Fisiopatología del SHH</a:t>
            </a:r>
            <a:endParaRPr lang="en-US" sz="3200" dirty="0"/>
          </a:p>
        </p:txBody>
      </p:sp>
      <p:sp>
        <p:nvSpPr>
          <p:cNvPr id="3" name="chip seccion"/>
          <p:cNvSpPr/>
          <p:nvPr/>
        </p:nvSpPr>
        <p:spPr>
          <a:xfrm>
            <a:off x="11085271" y="548640"/>
            <a:ext cx="557784" cy="3657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1085271" y="548640"/>
            <a:ext cx="557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chemeClr val="bg1"/>
                </a:solidFill>
              </a:rPr>
              <a:t>SHH</a:t>
            </a:r>
            <a:endParaRPr lang="en-US" sz="1100" dirty="0"/>
          </a:p>
        </p:txBody>
      </p:sp>
      <p:sp>
        <p:nvSpPr>
          <p:cNvPr id="6" name="card"/>
          <p:cNvSpPr/>
          <p:nvPr/>
        </p:nvSpPr>
        <p:spPr>
          <a:xfrm>
            <a:off x="4114800" y="1417320"/>
            <a:ext cx="3959352" cy="731520"/>
          </a:xfrm>
          <a:prstGeom prst="roundRect">
            <a:avLst>
              <a:gd name="adj" fmla="val 15000"/>
            </a:avLst>
          </a:prstGeom>
          <a:solidFill>
            <a:schemeClr val="accent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4114800" y="1417320"/>
            <a:ext cx="3959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bg1"/>
                </a:solidFill>
              </a:rPr>
              <a:t>Insulinopenia RELATIVA</a:t>
            </a:r>
            <a:endParaRPr lang="en-US" sz="2000" dirty="0"/>
          </a:p>
        </p:txBody>
      </p:sp>
      <p:sp>
        <p:nvSpPr>
          <p:cNvPr id="8" name="card"/>
          <p:cNvSpPr/>
          <p:nvPr/>
        </p:nvSpPr>
        <p:spPr>
          <a:xfrm>
            <a:off x="1097280" y="2514600"/>
            <a:ext cx="438912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3293D">
                <a:alpha val="12000"/>
              </a:srgbClr>
            </a:outerShdw>
          </a:effectLst>
        </p:spPr>
      </p:sp>
      <p:sp>
        <p:nvSpPr>
          <p:cNvPr id="9" name="icon circle"/>
          <p:cNvSpPr/>
          <p:nvPr/>
        </p:nvSpPr>
        <p:spPr>
          <a:xfrm>
            <a:off x="1280160" y="274320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icon FaShieldHalved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0355" y="2933395"/>
            <a:ext cx="351130" cy="35113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194560" y="251460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Suficiente para prevenir lipólisis y cetogénesis</a:t>
            </a:r>
            <a:endParaRPr lang="en-US" sz="1600" dirty="0"/>
          </a:p>
        </p:txBody>
      </p:sp>
      <p:sp>
        <p:nvSpPr>
          <p:cNvPr id="12" name="card"/>
          <p:cNvSpPr/>
          <p:nvPr/>
        </p:nvSpPr>
        <p:spPr>
          <a:xfrm>
            <a:off x="6702552" y="2514600"/>
            <a:ext cx="438912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3293D">
                <a:alpha val="12000"/>
              </a:srgbClr>
            </a:outerShdw>
          </a:effectLst>
        </p:spPr>
      </p:sp>
      <p:sp>
        <p:nvSpPr>
          <p:cNvPr id="13" name="icon circle"/>
          <p:cNvSpPr/>
          <p:nvPr/>
        </p:nvSpPr>
        <p:spPr>
          <a:xfrm>
            <a:off x="6885432" y="274320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4" name="icon FaBa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5627" y="2933395"/>
            <a:ext cx="351130" cy="35113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7799832" y="251460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Insuficiente para permitir la utilización de glucosa</a:t>
            </a:r>
            <a:endParaRPr lang="en-US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548640" y="39319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900" b="1" dirty="0">
                <a:solidFill>
                  <a:schemeClr val="accent2"/>
                </a:solidFill>
              </a:rPr>
              <a:t>+  Aumento de hormonas contrarreguladoras</a:t>
            </a:r>
            <a:endParaRPr lang="en-US" sz="1900" dirty="0"/>
          </a:p>
        </p:txBody>
      </p:sp>
      <p:sp>
        <p:nvSpPr>
          <p:cNvPr id="17" name="flecha"/>
          <p:cNvSpPr/>
          <p:nvPr/>
        </p:nvSpPr>
        <p:spPr>
          <a:xfrm>
            <a:off x="5943600" y="4480560"/>
            <a:ext cx="320040" cy="320040"/>
          </a:xfrm>
          <a:prstGeom prst="downArrow">
            <a:avLst/>
          </a:prstGeom>
          <a:solidFill>
            <a:schemeClr val="accent2"/>
          </a:solidFill>
          <a:ln/>
        </p:spPr>
      </p:sp>
      <p:sp>
        <p:nvSpPr>
          <p:cNvPr id="18" name="card"/>
          <p:cNvSpPr/>
          <p:nvPr/>
        </p:nvSpPr>
        <p:spPr>
          <a:xfrm>
            <a:off x="2011680" y="4892040"/>
            <a:ext cx="8165592" cy="1143000"/>
          </a:xfrm>
          <a:prstGeom prst="roundRect">
            <a:avLst>
              <a:gd name="adj" fmla="val 9600"/>
            </a:avLst>
          </a:prstGeom>
          <a:solidFill>
            <a:schemeClr val="tx1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2194560" y="4892040"/>
            <a:ext cx="779983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bg1"/>
                </a:solidFill>
              </a:rPr>
              <a:t>Hiperglicemia masiva con hiperosmolaridad, deshidratación e hipercoagulabilidad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9326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Consecuencias: neurológicas y trombóticas</a:t>
            </a:r>
            <a:endParaRPr lang="en-US" sz="3200" dirty="0"/>
          </a:p>
        </p:txBody>
      </p:sp>
      <p:sp>
        <p:nvSpPr>
          <p:cNvPr id="3" name="chip seccion"/>
          <p:cNvSpPr/>
          <p:nvPr/>
        </p:nvSpPr>
        <p:spPr>
          <a:xfrm>
            <a:off x="11085271" y="548640"/>
            <a:ext cx="557784" cy="3657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1085271" y="548640"/>
            <a:ext cx="557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chemeClr val="bg1"/>
                </a:solidFill>
              </a:rPr>
              <a:t>SHH</a:t>
            </a:r>
            <a:endParaRPr lang="en-US" sz="1100" dirty="0"/>
          </a:p>
        </p:txBody>
      </p:sp>
      <p:sp>
        <p:nvSpPr>
          <p:cNvPr id="6" name="card"/>
          <p:cNvSpPr/>
          <p:nvPr/>
        </p:nvSpPr>
        <p:spPr>
          <a:xfrm>
            <a:off x="548640" y="1463040"/>
            <a:ext cx="3515258" cy="4206240"/>
          </a:xfrm>
          <a:prstGeom prst="roundRect">
            <a:avLst>
              <a:gd name="adj" fmla="val 3121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3293D">
                <a:alpha val="12000"/>
              </a:srgbClr>
            </a:outerShdw>
          </a:effectLst>
        </p:spPr>
      </p:sp>
      <p:sp>
        <p:nvSpPr>
          <p:cNvPr id="7" name="icon circle"/>
          <p:cNvSpPr/>
          <p:nvPr/>
        </p:nvSpPr>
        <p:spPr>
          <a:xfrm>
            <a:off x="777240" y="169164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8" name="icon FaBrai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3661" y="1858061"/>
            <a:ext cx="307238" cy="30723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554480" y="1691640"/>
            <a:ext cx="23265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accent2"/>
                </a:solidFill>
              </a:rPr>
              <a:t>Neurológicas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2468880"/>
            <a:ext cx="3058058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Hiperglicemia + deshidratación severa → deshidratación neuronal: confusión, déficit focal, convulsiones, coma.</a:t>
            </a:r>
            <a:endParaRPr lang="en-US" sz="1800" dirty="0"/>
          </a:p>
        </p:txBody>
      </p:sp>
      <p:sp>
        <p:nvSpPr>
          <p:cNvPr id="11" name="card"/>
          <p:cNvSpPr/>
          <p:nvPr/>
        </p:nvSpPr>
        <p:spPr>
          <a:xfrm>
            <a:off x="4338218" y="1463040"/>
            <a:ext cx="3515258" cy="4206240"/>
          </a:xfrm>
          <a:prstGeom prst="roundRect">
            <a:avLst>
              <a:gd name="adj" fmla="val 3121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3293D">
                <a:alpha val="12000"/>
              </a:srgbClr>
            </a:outerShdw>
          </a:effectLst>
        </p:spPr>
      </p:sp>
      <p:sp>
        <p:nvSpPr>
          <p:cNvPr id="12" name="icon circle"/>
          <p:cNvSpPr/>
          <p:nvPr/>
        </p:nvSpPr>
        <p:spPr>
          <a:xfrm>
            <a:off x="4566818" y="169164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3" name="icon FaDroplet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3239" y="1858061"/>
            <a:ext cx="307238" cy="30723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344058" y="1691640"/>
            <a:ext cx="23265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accent2"/>
                </a:solidFill>
              </a:rPr>
              <a:t>Hipercoagulabilidad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4566818" y="2468880"/>
            <a:ext cx="3058058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Daño endotelial, ↑ inhibidor del activador del plasminógeno, ↓ proteína C, ↑ actividad plaquetaria y hemoconcentración.</a:t>
            </a:r>
            <a:endParaRPr lang="en-US" sz="1800" dirty="0"/>
          </a:p>
        </p:txBody>
      </p:sp>
      <p:sp>
        <p:nvSpPr>
          <p:cNvPr id="16" name="card"/>
          <p:cNvSpPr/>
          <p:nvPr/>
        </p:nvSpPr>
        <p:spPr>
          <a:xfrm>
            <a:off x="8127797" y="1463040"/>
            <a:ext cx="3515258" cy="4206240"/>
          </a:xfrm>
          <a:prstGeom prst="roundRect">
            <a:avLst>
              <a:gd name="adj" fmla="val 3121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3293D">
                <a:alpha val="12000"/>
              </a:srgbClr>
            </a:outerShdw>
          </a:effectLst>
        </p:spPr>
      </p:sp>
      <p:sp>
        <p:nvSpPr>
          <p:cNvPr id="17" name="icon circle"/>
          <p:cNvSpPr/>
          <p:nvPr/>
        </p:nvSpPr>
        <p:spPr>
          <a:xfrm>
            <a:off x="8356397" y="169164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8" name="icon FaHeartPuls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2818" y="1858061"/>
            <a:ext cx="307238" cy="307238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133637" y="1691640"/>
            <a:ext cx="23265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accent2"/>
                </a:solidFill>
              </a:rPr>
              <a:t>Tromboembolismo</a:t>
            </a:r>
            <a:endParaRPr lang="en-US" sz="1800" dirty="0"/>
          </a:p>
        </p:txBody>
      </p:sp>
      <p:sp>
        <p:nvSpPr>
          <p:cNvPr id="20" name="Text 14"/>
          <p:cNvSpPr txBox="1"/>
          <p:nvPr/>
        </p:nvSpPr>
        <p:spPr>
          <a:xfrm>
            <a:off x="8356397" y="2468880"/>
            <a:ext cx="3058058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TVP, TEP, IAM y ACV isquémico. Tromboprofilaxis con HBPM salvo contraindicación.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9326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Diagnóstico clínico del SHH</a:t>
            </a:r>
            <a:endParaRPr lang="en-US" sz="3200" dirty="0"/>
          </a:p>
        </p:txBody>
      </p:sp>
      <p:sp>
        <p:nvSpPr>
          <p:cNvPr id="3" name="chip seccion"/>
          <p:cNvSpPr/>
          <p:nvPr/>
        </p:nvSpPr>
        <p:spPr>
          <a:xfrm>
            <a:off x="11085271" y="548640"/>
            <a:ext cx="557784" cy="3657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1085271" y="548640"/>
            <a:ext cx="557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chemeClr val="bg1"/>
                </a:solidFill>
              </a:rPr>
              <a:t>SHH</a:t>
            </a:r>
            <a:endParaRPr lang="en-US" sz="1100" dirty="0"/>
          </a:p>
        </p:txBody>
      </p:sp>
      <p:sp>
        <p:nvSpPr>
          <p:cNvPr id="6" name="card"/>
          <p:cNvSpPr/>
          <p:nvPr/>
        </p:nvSpPr>
        <p:spPr>
          <a:xfrm>
            <a:off x="548640" y="1463040"/>
            <a:ext cx="5486400" cy="4572000"/>
          </a:xfrm>
          <a:prstGeom prst="roundRect">
            <a:avLst>
              <a:gd name="adj" fmla="val 24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3293D">
                <a:alpha val="12000"/>
              </a:srgbClr>
            </a:outerShdw>
          </a:effectLst>
        </p:spPr>
      </p:sp>
      <p:sp>
        <p:nvSpPr>
          <p:cNvPr id="7" name="icon circle"/>
          <p:cNvSpPr/>
          <p:nvPr/>
        </p:nvSpPr>
        <p:spPr>
          <a:xfrm>
            <a:off x="777240" y="169164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8" name="icon FaCommentMedical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3661" y="1858061"/>
            <a:ext cx="307238" cy="30723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00200" y="169164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900" b="1" dirty="0">
                <a:solidFill>
                  <a:schemeClr val="accent2"/>
                </a:solidFill>
              </a:rPr>
              <a:t>Manifestaciones</a:t>
            </a:r>
            <a:endParaRPr 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2560320"/>
            <a:ext cx="50292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Poliuria y polidipsia (diuresis osmótica) de días o semanas</a:t>
            </a:r>
            <a:endParaRPr lang="en-US" sz="19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Alteración de conciencia: confusión, letargo, coma</a:t>
            </a:r>
            <a:endParaRPr lang="en-US" sz="19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Convulsiones, déficit focal, signo de Babinski</a:t>
            </a:r>
            <a:endParaRPr lang="en-US" sz="19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Náuseas, vómitos, dolor abdominal, íleo</a:t>
            </a:r>
            <a:endParaRPr lang="en-US" sz="1900" dirty="0"/>
          </a:p>
        </p:txBody>
      </p:sp>
      <p:sp>
        <p:nvSpPr>
          <p:cNvPr id="11" name="card"/>
          <p:cNvSpPr/>
          <p:nvPr/>
        </p:nvSpPr>
        <p:spPr>
          <a:xfrm>
            <a:off x="6153912" y="1463040"/>
            <a:ext cx="5486400" cy="4572000"/>
          </a:xfrm>
          <a:prstGeom prst="roundRect">
            <a:avLst>
              <a:gd name="adj" fmla="val 24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3293D">
                <a:alpha val="12000"/>
              </a:srgbClr>
            </a:outerShdw>
          </a:effectLst>
        </p:spPr>
      </p:sp>
      <p:sp>
        <p:nvSpPr>
          <p:cNvPr id="12" name="icon circle"/>
          <p:cNvSpPr/>
          <p:nvPr/>
        </p:nvSpPr>
        <p:spPr>
          <a:xfrm>
            <a:off x="6382512" y="169164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3" name="icon FaStethoscop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8933" y="1858061"/>
            <a:ext cx="307238" cy="30723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205472" y="169164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900" b="1" dirty="0">
                <a:solidFill>
                  <a:schemeClr val="accent2"/>
                </a:solidFill>
              </a:rPr>
              <a:t>Examen físico</a:t>
            </a:r>
            <a:endParaRPr lang="en-US" sz="1900" dirty="0"/>
          </a:p>
        </p:txBody>
      </p:sp>
      <p:sp>
        <p:nvSpPr>
          <p:cNvPr id="15" name="Text 10"/>
          <p:cNvSpPr txBox="1"/>
          <p:nvPr/>
        </p:nvSpPr>
        <p:spPr>
          <a:xfrm>
            <a:off x="6382512" y="2560320"/>
            <a:ext cx="50292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Depleción de volumen extracelular: taquicardia, hipotensión, mucosas secas</a:t>
            </a:r>
            <a:endParaRPr lang="en-US" sz="19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Oliguria o anuria</a:t>
            </a:r>
            <a:endParaRPr lang="en-US" sz="19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Trombosis arterial o venosa en algunos casos</a:t>
            </a:r>
            <a:endParaRPr lang="en-US" sz="19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Sin respiración de Kussmaul ni aliento cetónico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9326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Laboratorio y criterios diagnósticos (2024)</a:t>
            </a:r>
            <a:endParaRPr lang="en-US" sz="3200" dirty="0"/>
          </a:p>
        </p:txBody>
      </p:sp>
      <p:sp>
        <p:nvSpPr>
          <p:cNvPr id="3" name="chip seccion"/>
          <p:cNvSpPr/>
          <p:nvPr/>
        </p:nvSpPr>
        <p:spPr>
          <a:xfrm>
            <a:off x="11085271" y="548640"/>
            <a:ext cx="557784" cy="3657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1085271" y="548640"/>
            <a:ext cx="557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chemeClr val="bg1"/>
                </a:solidFill>
              </a:rPr>
              <a:t>SHH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173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accent2"/>
                </a:solidFill>
              </a:rPr>
              <a:t>Exámenes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874520"/>
            <a:ext cx="39319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Glicemia plasmática</a:t>
            </a:r>
            <a:endParaRPr lang="en-US" sz="16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Creatinina y BUN</a:t>
            </a:r>
            <a:endParaRPr lang="en-US" sz="16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β-hidroxibutirato</a:t>
            </a:r>
            <a:endParaRPr lang="en-US" sz="16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Electrolitos y Na⁺ corregido</a:t>
            </a:r>
            <a:endParaRPr lang="en-US" sz="16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Osmolalidad plasmática</a:t>
            </a:r>
            <a:endParaRPr lang="en-US" sz="16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Gases venosos</a:t>
            </a:r>
            <a:endParaRPr lang="en-US" sz="16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Orina completa, cultivos, ECG</a:t>
            </a:r>
            <a:endParaRPr lang="en-US" sz="1600" dirty="0"/>
          </a:p>
        </p:txBody>
      </p:sp>
      <p:sp>
        <p:nvSpPr>
          <p:cNvPr id="8" name="card"/>
          <p:cNvSpPr/>
          <p:nvPr/>
        </p:nvSpPr>
        <p:spPr>
          <a:xfrm>
            <a:off x="4754880" y="1417320"/>
            <a:ext cx="324612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3293D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4937760" y="155448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6"/>
                </a:solidFill>
              </a:rPr>
              <a:t>Glicemia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4937760" y="196596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2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≥ 600 mg/dL</a:t>
            </a:r>
            <a:endParaRPr lang="en-US" sz="2400" dirty="0"/>
          </a:p>
        </p:txBody>
      </p:sp>
      <p:sp>
        <p:nvSpPr>
          <p:cNvPr id="11" name="card"/>
          <p:cNvSpPr/>
          <p:nvPr/>
        </p:nvSpPr>
        <p:spPr>
          <a:xfrm>
            <a:off x="8247888" y="1417320"/>
            <a:ext cx="324612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3293D">
                <a:alpha val="12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8430768" y="155448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6"/>
                </a:solidFill>
              </a:rPr>
              <a:t>Osmolalidad efectiva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8430768" y="196596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2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 300 mOsm/kg</a:t>
            </a:r>
            <a:endParaRPr lang="en-US" sz="2400" dirty="0"/>
          </a:p>
        </p:txBody>
      </p:sp>
      <p:sp>
        <p:nvSpPr>
          <p:cNvPr id="14" name="card"/>
          <p:cNvSpPr/>
          <p:nvPr/>
        </p:nvSpPr>
        <p:spPr>
          <a:xfrm>
            <a:off x="4754880" y="3246120"/>
            <a:ext cx="324612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3293D">
                <a:alpha val="12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4937760" y="338328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6"/>
                </a:solidFill>
              </a:rPr>
              <a:t>Cetonas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4937760" y="379476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β-OHB &lt; 3,0 mmol/L / cetonuria &lt; 2+</a:t>
            </a:r>
            <a:endParaRPr lang="en-US" sz="1800" dirty="0"/>
          </a:p>
        </p:txBody>
      </p:sp>
      <p:sp>
        <p:nvSpPr>
          <p:cNvPr id="17" name="card"/>
          <p:cNvSpPr/>
          <p:nvPr/>
        </p:nvSpPr>
        <p:spPr>
          <a:xfrm>
            <a:off x="8247888" y="3246120"/>
            <a:ext cx="324612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3293D">
                <a:alpha val="12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8430768" y="338328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6"/>
                </a:solidFill>
              </a:rPr>
              <a:t>Equilibrio ácido-base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8430768" y="379476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 ≥ 7,3 y HCO₃⁻ ≥ 15 mmol/L</a:t>
            </a:r>
            <a:endParaRPr lang="en-US" sz="1800" dirty="0"/>
          </a:p>
        </p:txBody>
      </p:sp>
      <p:sp>
        <p:nvSpPr>
          <p:cNvPr id="20" name="card"/>
          <p:cNvSpPr/>
          <p:nvPr/>
        </p:nvSpPr>
        <p:spPr>
          <a:xfrm>
            <a:off x="4754880" y="5120640"/>
            <a:ext cx="6739128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4937760" y="512064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Osm. efectiva </a:t>
            </a:r>
            <a:pPr algn="ctr"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= 2 × Na⁺ (mEq/L) + glicemia (mg/dL) / 18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9326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Comparación CAD vs SHH</a:t>
            </a:r>
            <a:endParaRPr lang="en-US" sz="3200" dirty="0"/>
          </a:p>
        </p:txBody>
      </p:sp>
      <p:sp>
        <p:nvSpPr>
          <p:cNvPr id="3" name="chip seccion"/>
          <p:cNvSpPr/>
          <p:nvPr/>
        </p:nvSpPr>
        <p:spPr>
          <a:xfrm>
            <a:off x="11085271" y="548640"/>
            <a:ext cx="557784" cy="3657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1085271" y="548640"/>
            <a:ext cx="557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chemeClr val="bg1"/>
                </a:solidFill>
              </a:rPr>
              <a:t>SHH</a:t>
            </a:r>
            <a:endParaRPr lang="en-US" sz="11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1672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920240"/>
                <a:gridCol w="2103120"/>
                <a:gridCol w="1920240"/>
                <a:gridCol w="2496312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Parámetro</a:t>
                      </a:r>
                      <a:endParaRPr lang="en-US" sz="15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CAD leve</a:t>
                      </a:r>
                      <a:endParaRPr lang="en-US" sz="15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3A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CAD moderada</a:t>
                      </a:r>
                      <a:endParaRPr lang="en-US" sz="15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3A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CAD severa</a:t>
                      </a:r>
                      <a:endParaRPr lang="en-US" sz="15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3A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SHH</a:t>
                      </a:r>
                      <a:endParaRPr lang="en-US" sz="15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4FA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Glicemia (mg/dL)</a:t>
                      </a:r>
                      <a:endParaRPr lang="en-US" sz="15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≥ 200 o DM conocida</a:t>
                      </a:r>
                      <a:endParaRPr lang="en-US" sz="15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≥ 600</a:t>
                      </a:r>
                      <a:endParaRPr lang="en-US" sz="15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pH venoso</a:t>
                      </a:r>
                      <a:endParaRPr lang="en-US" sz="15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7,25 – 7,30</a:t>
                      </a:r>
                      <a:endParaRPr lang="en-US" sz="15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7,00 – 7,24</a:t>
                      </a:r>
                      <a:endParaRPr lang="en-US" sz="15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&lt; 7,00</a:t>
                      </a:r>
                      <a:endParaRPr lang="en-US" sz="15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≥ 7,30</a:t>
                      </a:r>
                      <a:endParaRPr lang="en-US" sz="15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HCO₃⁻ (mmol/L)</a:t>
                      </a:r>
                      <a:endParaRPr lang="en-US" sz="15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15 – 18</a:t>
                      </a:r>
                      <a:endParaRPr lang="en-US" sz="15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10 – &lt; 15</a:t>
                      </a:r>
                      <a:endParaRPr lang="en-US" sz="15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&lt; 10</a:t>
                      </a:r>
                      <a:endParaRPr lang="en-US" sz="15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≥ 15</a:t>
                      </a:r>
                      <a:endParaRPr lang="en-US" sz="15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β-OHB (mmol/L)</a:t>
                      </a:r>
                      <a:endParaRPr lang="en-US" sz="15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≥ 3,0</a:t>
                      </a:r>
                      <a:endParaRPr lang="en-US" sz="15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&lt; 3,0</a:t>
                      </a:r>
                      <a:endParaRPr lang="en-US" sz="15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Osm. efectiva (mOsm/kg)</a:t>
                      </a:r>
                      <a:endParaRPr lang="en-US" sz="15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Variable</a:t>
                      </a:r>
                      <a:endParaRPr lang="en-US" sz="15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&gt; 300</a:t>
                      </a:r>
                      <a:endParaRPr lang="en-US" sz="15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Estado mental</a:t>
                      </a:r>
                      <a:endParaRPr lang="en-US" sz="15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Alerta</a:t>
                      </a:r>
                      <a:endParaRPr lang="en-US" sz="15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Alerta / somnoliento</a:t>
                      </a:r>
                      <a:endParaRPr lang="en-US" sz="15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Estupor / coma</a:t>
                      </a:r>
                      <a:endParaRPr lang="en-US" sz="15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Variable, frecuente estupor / coma</a:t>
                      </a:r>
                      <a:endParaRPr lang="en-US" sz="15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Instalación</a:t>
                      </a:r>
                      <a:endParaRPr lang="en-US" sz="15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Horas a 1–2 días</a:t>
                      </a:r>
                      <a:endParaRPr lang="en-US" sz="15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Días a semanas</a:t>
                      </a:r>
                      <a:endParaRPr lang="en-US" sz="15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9326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Tratamiento del SHH</a:t>
            </a:r>
            <a:endParaRPr lang="en-US" sz="3200" dirty="0"/>
          </a:p>
        </p:txBody>
      </p:sp>
      <p:sp>
        <p:nvSpPr>
          <p:cNvPr id="3" name="chip seccion"/>
          <p:cNvSpPr/>
          <p:nvPr/>
        </p:nvSpPr>
        <p:spPr>
          <a:xfrm>
            <a:off x="11085271" y="548640"/>
            <a:ext cx="557784" cy="3657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1085271" y="548640"/>
            <a:ext cx="557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chemeClr val="bg1"/>
                </a:solidFill>
              </a:rPr>
              <a:t>SHH</a:t>
            </a:r>
            <a:endParaRPr lang="en-US" sz="1100" dirty="0"/>
          </a:p>
        </p:txBody>
      </p:sp>
      <p:sp>
        <p:nvSpPr>
          <p:cNvPr id="6" name="card"/>
          <p:cNvSpPr/>
          <p:nvPr/>
        </p:nvSpPr>
        <p:spPr>
          <a:xfrm>
            <a:off x="548640" y="1554480"/>
            <a:ext cx="5410048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3293D">
                <a:alpha val="12000"/>
              </a:srgbClr>
            </a:outerShdw>
          </a:effectLst>
        </p:spPr>
      </p:sp>
      <p:sp>
        <p:nvSpPr>
          <p:cNvPr id="7" name="icon circle"/>
          <p:cNvSpPr/>
          <p:nvPr/>
        </p:nvSpPr>
        <p:spPr>
          <a:xfrm>
            <a:off x="777240" y="178308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8" name="icon FaBottleDrople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3661" y="1949501"/>
            <a:ext cx="307238" cy="30723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554480" y="1783080"/>
            <a:ext cx="4221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accent2"/>
                </a:solidFill>
              </a:rPr>
              <a:t>Corregir la hipovolemia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2560320"/>
            <a:ext cx="4952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Primera y principal intervención.</a:t>
            </a:r>
            <a:endParaRPr lang="en-US" sz="2000" dirty="0"/>
          </a:p>
        </p:txBody>
      </p:sp>
      <p:sp>
        <p:nvSpPr>
          <p:cNvPr id="11" name="card"/>
          <p:cNvSpPr/>
          <p:nvPr/>
        </p:nvSpPr>
        <p:spPr>
          <a:xfrm>
            <a:off x="6233008" y="1554480"/>
            <a:ext cx="5410048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3293D">
                <a:alpha val="12000"/>
              </a:srgbClr>
            </a:outerShdw>
          </a:effectLst>
        </p:spPr>
      </p:sp>
      <p:sp>
        <p:nvSpPr>
          <p:cNvPr id="12" name="icon circle"/>
          <p:cNvSpPr/>
          <p:nvPr/>
        </p:nvSpPr>
        <p:spPr>
          <a:xfrm>
            <a:off x="6461608" y="178308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3" name="icon FaScaleBalanced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8028" y="1949501"/>
            <a:ext cx="307238" cy="30723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238848" y="1783080"/>
            <a:ext cx="4221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accent2"/>
                </a:solidFill>
              </a:rPr>
              <a:t>Normalizar la osmolalidad</a:t>
            </a:r>
            <a:endParaRPr lang="en-US" sz="2000" dirty="0"/>
          </a:p>
        </p:txBody>
      </p:sp>
      <p:sp>
        <p:nvSpPr>
          <p:cNvPr id="15" name="Text 10"/>
          <p:cNvSpPr txBox="1"/>
          <p:nvPr/>
        </p:nvSpPr>
        <p:spPr>
          <a:xfrm>
            <a:off x="6461608" y="2560320"/>
            <a:ext cx="4952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Descenso lento y controlado.</a:t>
            </a:r>
            <a:endParaRPr lang="en-US" sz="2000" dirty="0"/>
          </a:p>
        </p:txBody>
      </p:sp>
      <p:sp>
        <p:nvSpPr>
          <p:cNvPr id="16" name="card"/>
          <p:cNvSpPr/>
          <p:nvPr/>
        </p:nvSpPr>
        <p:spPr>
          <a:xfrm>
            <a:off x="548640" y="3657600"/>
            <a:ext cx="5410048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3293D">
                <a:alpha val="12000"/>
              </a:srgbClr>
            </a:outerShdw>
          </a:effectLst>
        </p:spPr>
      </p:sp>
      <p:sp>
        <p:nvSpPr>
          <p:cNvPr id="17" name="icon circle"/>
          <p:cNvSpPr/>
          <p:nvPr/>
        </p:nvSpPr>
        <p:spPr>
          <a:xfrm>
            <a:off x="777240" y="388620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8" name="icon FaArrowTrendDow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661" y="4052621"/>
            <a:ext cx="307238" cy="307238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554480" y="3886200"/>
            <a:ext cx="4221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accent2"/>
                </a:solidFill>
              </a:rPr>
              <a:t>Corregir la hiperglicemia</a:t>
            </a:r>
            <a:endParaRPr lang="en-US" sz="2000" dirty="0"/>
          </a:p>
        </p:txBody>
      </p:sp>
      <p:sp>
        <p:nvSpPr>
          <p:cNvPr id="20" name="Text 14"/>
          <p:cNvSpPr txBox="1"/>
          <p:nvPr/>
        </p:nvSpPr>
        <p:spPr>
          <a:xfrm>
            <a:off x="777240" y="4663440"/>
            <a:ext cx="4952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Sin superar 90–120 mg/dL/h.</a:t>
            </a:r>
            <a:endParaRPr lang="en-US" sz="2000" dirty="0"/>
          </a:p>
        </p:txBody>
      </p:sp>
      <p:sp>
        <p:nvSpPr>
          <p:cNvPr id="21" name="card"/>
          <p:cNvSpPr/>
          <p:nvPr/>
        </p:nvSpPr>
        <p:spPr>
          <a:xfrm>
            <a:off x="6233008" y="3657600"/>
            <a:ext cx="5410048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3293D">
                <a:alpha val="12000"/>
              </a:srgbClr>
            </a:outerShdw>
          </a:effectLst>
        </p:spPr>
      </p:sp>
      <p:sp>
        <p:nvSpPr>
          <p:cNvPr id="22" name="icon circle"/>
          <p:cNvSpPr/>
          <p:nvPr/>
        </p:nvSpPr>
        <p:spPr>
          <a:xfrm>
            <a:off x="6461608" y="388620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3" name="icon FaMagnifyingGlass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8028" y="4052621"/>
            <a:ext cx="307238" cy="307238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7238848" y="3886200"/>
            <a:ext cx="4221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accent2"/>
                </a:solidFill>
              </a:rPr>
              <a:t>Tratar el desencadenante</a:t>
            </a:r>
            <a:endParaRPr lang="en-US" sz="2000" dirty="0"/>
          </a:p>
        </p:txBody>
      </p:sp>
      <p:sp>
        <p:nvSpPr>
          <p:cNvPr id="25" name="Text 18"/>
          <p:cNvSpPr txBox="1"/>
          <p:nvPr/>
        </p:nvSpPr>
        <p:spPr>
          <a:xfrm>
            <a:off x="6461608" y="4663440"/>
            <a:ext cx="4952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Infección, ACV, IAM, fármacos.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9326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Fluidos y osmolalidad en el SHH</a:t>
            </a:r>
            <a:endParaRPr lang="en-US" sz="3200" dirty="0"/>
          </a:p>
        </p:txBody>
      </p:sp>
      <p:sp>
        <p:nvSpPr>
          <p:cNvPr id="3" name="chip seccion"/>
          <p:cNvSpPr/>
          <p:nvPr/>
        </p:nvSpPr>
        <p:spPr>
          <a:xfrm>
            <a:off x="11085271" y="548640"/>
            <a:ext cx="557784" cy="3657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1085271" y="548640"/>
            <a:ext cx="557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chemeClr val="bg1"/>
                </a:solidFill>
              </a:rPr>
              <a:t>SHH</a:t>
            </a:r>
            <a:endParaRPr lang="en-US" sz="1100" dirty="0"/>
          </a:p>
        </p:txBody>
      </p:sp>
      <p:sp>
        <p:nvSpPr>
          <p:cNvPr id="6" name="paso 1"/>
          <p:cNvSpPr/>
          <p:nvPr/>
        </p:nvSpPr>
        <p:spPr>
          <a:xfrm>
            <a:off x="548640" y="1463040"/>
            <a:ext cx="6583680" cy="841248"/>
          </a:xfrm>
          <a:prstGeom prst="roundRect">
            <a:avLst>
              <a:gd name="adj" fmla="val 10870"/>
            </a:avLst>
          </a:prstGeom>
          <a:solidFill>
            <a:schemeClr val="accent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85800" y="1463040"/>
            <a:ext cx="6309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SF 0,9% o cristaloide balanceado 500–1000 mL/h las primeras 2–4 h</a:t>
            </a:r>
            <a:endParaRPr lang="en-US" sz="1500" dirty="0"/>
          </a:p>
        </p:txBody>
      </p:sp>
      <p:sp>
        <p:nvSpPr>
          <p:cNvPr id="8" name="flecha"/>
          <p:cNvSpPr/>
          <p:nvPr/>
        </p:nvSpPr>
        <p:spPr>
          <a:xfrm>
            <a:off x="3721608" y="2340864"/>
            <a:ext cx="237744" cy="274320"/>
          </a:xfrm>
          <a:prstGeom prst="downArrow">
            <a:avLst/>
          </a:prstGeom>
          <a:solidFill>
            <a:schemeClr val="accent2"/>
          </a:solidFill>
          <a:ln/>
        </p:spPr>
      </p:sp>
      <p:sp>
        <p:nvSpPr>
          <p:cNvPr id="9" name="paso 2"/>
          <p:cNvSpPr/>
          <p:nvPr/>
        </p:nvSpPr>
        <p:spPr>
          <a:xfrm>
            <a:off x="548640" y="2651760"/>
            <a:ext cx="6583680" cy="841248"/>
          </a:xfrm>
          <a:prstGeom prst="roundRect">
            <a:avLst>
              <a:gd name="adj" fmla="val 10870"/>
            </a:avLst>
          </a:prstGeom>
          <a:solidFill>
            <a:schemeClr val="bg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85800" y="2651760"/>
            <a:ext cx="6309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Ajustar a 250–500 mL/h según hemodinamia y electrolitos</a:t>
            </a:r>
            <a:endParaRPr lang="en-US" sz="1500" dirty="0"/>
          </a:p>
        </p:txBody>
      </p:sp>
      <p:sp>
        <p:nvSpPr>
          <p:cNvPr id="11" name="flecha"/>
          <p:cNvSpPr/>
          <p:nvPr/>
        </p:nvSpPr>
        <p:spPr>
          <a:xfrm>
            <a:off x="3721608" y="3529584"/>
            <a:ext cx="237744" cy="274320"/>
          </a:xfrm>
          <a:prstGeom prst="downArrow">
            <a:avLst/>
          </a:prstGeom>
          <a:solidFill>
            <a:schemeClr val="accent2"/>
          </a:solidFill>
          <a:ln/>
        </p:spPr>
      </p:sp>
      <p:sp>
        <p:nvSpPr>
          <p:cNvPr id="12" name="paso 3"/>
          <p:cNvSpPr/>
          <p:nvPr/>
        </p:nvSpPr>
        <p:spPr>
          <a:xfrm>
            <a:off x="548640" y="3840480"/>
            <a:ext cx="6583680" cy="841248"/>
          </a:xfrm>
          <a:prstGeom prst="roundRect">
            <a:avLst>
              <a:gd name="adj" fmla="val 10870"/>
            </a:avLst>
          </a:prstGeom>
          <a:solidFill>
            <a:schemeClr val="bg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85800" y="3840480"/>
            <a:ext cx="6309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Glicemia &lt; 250 mg/dL → agregar dextrosa 5–10%</a:t>
            </a:r>
            <a:endParaRPr lang="en-US" sz="1500" dirty="0"/>
          </a:p>
        </p:txBody>
      </p:sp>
      <p:sp>
        <p:nvSpPr>
          <p:cNvPr id="14" name="flecha"/>
          <p:cNvSpPr/>
          <p:nvPr/>
        </p:nvSpPr>
        <p:spPr>
          <a:xfrm>
            <a:off x="3721608" y="4718304"/>
            <a:ext cx="237744" cy="274320"/>
          </a:xfrm>
          <a:prstGeom prst="downArrow">
            <a:avLst/>
          </a:prstGeom>
          <a:solidFill>
            <a:schemeClr val="accent2"/>
          </a:solidFill>
          <a:ln/>
        </p:spPr>
      </p:sp>
      <p:sp>
        <p:nvSpPr>
          <p:cNvPr id="15" name="paso 4"/>
          <p:cNvSpPr/>
          <p:nvPr/>
        </p:nvSpPr>
        <p:spPr>
          <a:xfrm>
            <a:off x="548640" y="5029200"/>
            <a:ext cx="6583680" cy="841248"/>
          </a:xfrm>
          <a:prstGeom prst="roundRect">
            <a:avLst>
              <a:gd name="adj" fmla="val 10870"/>
            </a:avLst>
          </a:prstGeom>
          <a:solidFill>
            <a:schemeClr val="bg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85800" y="5029200"/>
            <a:ext cx="6309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NaCl 0,45% solo si la osmolalidad no baja pese a balance positivo e insulina adecuados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7498080" y="14630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accent2"/>
                </a:solidFill>
              </a:rPr>
              <a:t>Velocidades seguras de descenso</a:t>
            </a:r>
            <a:endParaRPr lang="en-US" sz="1800" dirty="0"/>
          </a:p>
        </p:txBody>
      </p:sp>
      <p:sp>
        <p:nvSpPr>
          <p:cNvPr id="18" name="card"/>
          <p:cNvSpPr/>
          <p:nvPr/>
        </p:nvSpPr>
        <p:spPr>
          <a:xfrm>
            <a:off x="7498080" y="2011680"/>
            <a:ext cx="4142232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3293D">
                <a:alpha val="12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7726680" y="2011680"/>
            <a:ext cx="1645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6"/>
                </a:solidFill>
              </a:rPr>
              <a:t>Glicemia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9235440" y="2011680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900" b="1" dirty="0">
                <a:solidFill>
                  <a:schemeClr val="accent2"/>
                </a:solidFill>
              </a:rPr>
              <a:t>≤ 90–120 mg/dL/h</a:t>
            </a:r>
            <a:endParaRPr lang="en-US" sz="1900" dirty="0"/>
          </a:p>
        </p:txBody>
      </p:sp>
      <p:sp>
        <p:nvSpPr>
          <p:cNvPr id="21" name="card"/>
          <p:cNvSpPr/>
          <p:nvPr/>
        </p:nvSpPr>
        <p:spPr>
          <a:xfrm>
            <a:off x="7498080" y="3383280"/>
            <a:ext cx="4142232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3293D">
                <a:alpha val="12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7726680" y="3383280"/>
            <a:ext cx="1645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6"/>
                </a:solidFill>
              </a:rPr>
              <a:t>Osmolalidad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9235440" y="3383280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900" b="1" dirty="0">
                <a:solidFill>
                  <a:schemeClr val="accent2"/>
                </a:solidFill>
              </a:rPr>
              <a:t>3–8 mOsm/kg/h</a:t>
            </a:r>
            <a:endParaRPr lang="en-US" sz="1900" dirty="0"/>
          </a:p>
        </p:txBody>
      </p:sp>
      <p:sp>
        <p:nvSpPr>
          <p:cNvPr id="24" name="card"/>
          <p:cNvSpPr/>
          <p:nvPr/>
        </p:nvSpPr>
        <p:spPr>
          <a:xfrm>
            <a:off x="7498080" y="4754880"/>
            <a:ext cx="4142232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3293D">
                <a:alpha val="12000"/>
              </a:srgbClr>
            </a:outerShdw>
          </a:effectLst>
        </p:spPr>
      </p:sp>
      <p:sp>
        <p:nvSpPr>
          <p:cNvPr id="25" name="Text 22"/>
          <p:cNvSpPr txBox="1"/>
          <p:nvPr/>
        </p:nvSpPr>
        <p:spPr>
          <a:xfrm>
            <a:off x="7726680" y="4754880"/>
            <a:ext cx="1645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6"/>
                </a:solidFill>
              </a:rPr>
              <a:t>Sodio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9235440" y="4754880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900" b="1" dirty="0">
                <a:solidFill>
                  <a:schemeClr val="accent2"/>
                </a:solidFill>
              </a:rPr>
              <a:t>≤ 10 mEq/L en 24 h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9326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Potasio, insulina y resolución en el SHH</a:t>
            </a:r>
            <a:endParaRPr lang="en-US" sz="3200" dirty="0"/>
          </a:p>
        </p:txBody>
      </p:sp>
      <p:sp>
        <p:nvSpPr>
          <p:cNvPr id="3" name="chip seccion"/>
          <p:cNvSpPr/>
          <p:nvPr/>
        </p:nvSpPr>
        <p:spPr>
          <a:xfrm>
            <a:off x="11085271" y="548640"/>
            <a:ext cx="557784" cy="3657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1085271" y="548640"/>
            <a:ext cx="557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chemeClr val="bg1"/>
                </a:solidFill>
              </a:rPr>
              <a:t>SHH</a:t>
            </a:r>
            <a:endParaRPr lang="en-US" sz="1100" dirty="0"/>
          </a:p>
        </p:txBody>
      </p:sp>
      <p:sp>
        <p:nvSpPr>
          <p:cNvPr id="6" name="card"/>
          <p:cNvSpPr/>
          <p:nvPr/>
        </p:nvSpPr>
        <p:spPr>
          <a:xfrm>
            <a:off x="548640" y="1463040"/>
            <a:ext cx="3566160" cy="457200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3293D">
                <a:alpha val="12000"/>
              </a:srgbClr>
            </a:outerShdw>
          </a:effectLst>
        </p:spPr>
      </p:sp>
      <p:sp>
        <p:nvSpPr>
          <p:cNvPr id="7" name="icon circle"/>
          <p:cNvSpPr/>
          <p:nvPr/>
        </p:nvSpPr>
        <p:spPr>
          <a:xfrm>
            <a:off x="777240" y="169164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8" name="icon FaBol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548" y="1869948"/>
            <a:ext cx="329184" cy="32918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00200" y="169164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900" b="1" dirty="0">
                <a:solidFill>
                  <a:schemeClr val="accent2"/>
                </a:solidFill>
              </a:rPr>
              <a:t>Potasio</a:t>
            </a:r>
            <a:endParaRPr 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2560320"/>
            <a:ext cx="31546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Mismos umbrales que en CAD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K⁺ 3,5–5,0: 20–30 mEq/L de solución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K⁺ &lt; 3,5: no iniciar insulina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Verificar diuresis y creatinina</a:t>
            </a:r>
            <a:endParaRPr lang="en-US" sz="1700" dirty="0"/>
          </a:p>
        </p:txBody>
      </p:sp>
      <p:sp>
        <p:nvSpPr>
          <p:cNvPr id="11" name="card"/>
          <p:cNvSpPr/>
          <p:nvPr/>
        </p:nvSpPr>
        <p:spPr>
          <a:xfrm>
            <a:off x="4315968" y="1463040"/>
            <a:ext cx="3566160" cy="457200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3293D">
                <a:alpha val="12000"/>
              </a:srgbClr>
            </a:outerShdw>
          </a:effectLst>
        </p:spPr>
      </p:sp>
      <p:sp>
        <p:nvSpPr>
          <p:cNvPr id="12" name="icon circle"/>
          <p:cNvSpPr/>
          <p:nvPr/>
        </p:nvSpPr>
        <p:spPr>
          <a:xfrm>
            <a:off x="4544568" y="169164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3" name="icon FaSyring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876" y="1869948"/>
            <a:ext cx="329184" cy="32918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367528" y="169164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900" b="1" dirty="0">
                <a:solidFill>
                  <a:schemeClr val="accent2"/>
                </a:solidFill>
              </a:rPr>
              <a:t>Insulina</a:t>
            </a:r>
            <a:endParaRPr lang="en-US" sz="1900" dirty="0"/>
          </a:p>
        </p:txBody>
      </p:sp>
      <p:sp>
        <p:nvSpPr>
          <p:cNvPr id="15" name="Text 10"/>
          <p:cNvSpPr txBox="1"/>
          <p:nvPr/>
        </p:nvSpPr>
        <p:spPr>
          <a:xfrm>
            <a:off x="4544568" y="2560320"/>
            <a:ext cx="31546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Iniciar después de reanimar con volumen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>Sin cetosis significativa: </a:t>
            </a:r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0,05 U/kg/h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>Estado mixto CAD/SHH: </a:t>
            </a:r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0,1 U/kg/h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Glicemia &lt; 250: dextrosa 5–10%</a:t>
            </a:r>
            <a:endParaRPr lang="en-US" sz="1700" dirty="0"/>
          </a:p>
        </p:txBody>
      </p:sp>
      <p:sp>
        <p:nvSpPr>
          <p:cNvPr id="16" name="card"/>
          <p:cNvSpPr/>
          <p:nvPr/>
        </p:nvSpPr>
        <p:spPr>
          <a:xfrm>
            <a:off x="8083296" y="1463040"/>
            <a:ext cx="3557016" cy="4572000"/>
          </a:xfrm>
          <a:prstGeom prst="roundRect">
            <a:avLst>
              <a:gd name="adj" fmla="val 3085"/>
            </a:avLst>
          </a:prstGeom>
          <a:solidFill>
            <a:schemeClr val="tx1"/>
          </a:solidFill>
          <a:ln/>
        </p:spPr>
      </p:sp>
      <p:sp>
        <p:nvSpPr>
          <p:cNvPr id="17" name="icon circle"/>
          <p:cNvSpPr/>
          <p:nvPr/>
        </p:nvSpPr>
        <p:spPr>
          <a:xfrm>
            <a:off x="8311896" y="1691640"/>
            <a:ext cx="685800" cy="6858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8" name="icon FaCircleCheck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0204" y="1869948"/>
            <a:ext cx="329184" cy="329184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134856" y="169164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900" b="1" dirty="0">
                <a:solidFill>
                  <a:schemeClr val="bg1"/>
                </a:solidFill>
              </a:rPr>
              <a:t>SHH resuelto si:</a:t>
            </a:r>
            <a:endParaRPr lang="en-US" sz="1900" dirty="0"/>
          </a:p>
        </p:txBody>
      </p:sp>
      <p:sp>
        <p:nvSpPr>
          <p:cNvPr id="20" name="Text 14"/>
          <p:cNvSpPr txBox="1"/>
          <p:nvPr/>
        </p:nvSpPr>
        <p:spPr>
          <a:xfrm>
            <a:off x="8311896" y="2560320"/>
            <a:ext cx="31546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Osmolalidad &lt; 300 mOsm/kg</a:t>
            </a:r>
            <a:endParaRPr lang="en-US" sz="18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Glicemia &lt; 250 mg/dL</a:t>
            </a:r>
            <a:endParaRPr lang="en-US" sz="18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Diuresis &gt; 0,5 mL/kg/h</a:t>
            </a:r>
            <a:endParaRPr lang="en-US" sz="18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Recuperación del estado cognitivo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irculo seccion"/>
          <p:cNvSpPr/>
          <p:nvPr/>
        </p:nvSpPr>
        <p:spPr>
          <a:xfrm>
            <a:off x="8595360" y="1463040"/>
            <a:ext cx="4206240" cy="420624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3" name="icono secci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0" y="2560320"/>
            <a:ext cx="2011680" cy="20116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73152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6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731520" y="1737360"/>
            <a:ext cx="7680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Valoración y cuidados de enfermería en CAD y SHH</a:t>
            </a:r>
            <a:endParaRPr lang="en-US" sz="40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731520" y="43434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Priorización, monitorización y prevención de complicaciones</a:t>
            </a:r>
            <a:endParaRPr lang="en-US" sz="1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9326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Valoración inicial: CAD vs SHH</a:t>
            </a:r>
            <a:endParaRPr lang="en-US" sz="3200" dirty="0"/>
          </a:p>
        </p:txBody>
      </p:sp>
      <p:sp>
        <p:nvSpPr>
          <p:cNvPr id="3" name="chip seccion"/>
          <p:cNvSpPr/>
          <p:nvPr/>
        </p:nvSpPr>
        <p:spPr>
          <a:xfrm>
            <a:off x="10253167" y="548640"/>
            <a:ext cx="1389888" cy="3657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253167" y="548640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chemeClr val="bg1"/>
                </a:solidFill>
              </a:rPr>
              <a:t>ENFERMERÍA</a:t>
            </a:r>
            <a:endParaRPr lang="en-US" sz="1100" dirty="0"/>
          </a:p>
        </p:txBody>
      </p:sp>
      <p:sp>
        <p:nvSpPr>
          <p:cNvPr id="6" name="card"/>
          <p:cNvSpPr/>
          <p:nvPr/>
        </p:nvSpPr>
        <p:spPr>
          <a:xfrm>
            <a:off x="548640" y="1463040"/>
            <a:ext cx="5486400" cy="4572000"/>
          </a:xfrm>
          <a:prstGeom prst="roundRect">
            <a:avLst>
              <a:gd name="adj" fmla="val 24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3293D">
                <a:alpha val="12000"/>
              </a:srgbClr>
            </a:outerShdw>
          </a:effectLst>
        </p:spPr>
      </p:sp>
      <p:sp>
        <p:nvSpPr>
          <p:cNvPr id="7" name="etiqueta"/>
          <p:cNvSpPr/>
          <p:nvPr/>
        </p:nvSpPr>
        <p:spPr>
          <a:xfrm>
            <a:off x="777240" y="1645920"/>
            <a:ext cx="1371600" cy="5486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77240" y="16459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bg1"/>
                </a:solidFill>
              </a:rPr>
              <a:t>CAD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423160"/>
            <a:ext cx="2514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Deshidratación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Letargo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Respiración de Kussmaul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Rubicundez facial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Aliento cetónico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3337560" y="2423160"/>
            <a:ext cx="2560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Náuseas, vómitos, dolor abdominal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Glicemia ≥ 200 mg/dL o DM conocida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β-OHB ≥ 3,0 / cetonuria ≥ 2+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Acidosis metabólica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K⁺ normal o elevado al ingreso</a:t>
            </a:r>
            <a:endParaRPr lang="en-US" sz="1600" dirty="0"/>
          </a:p>
        </p:txBody>
      </p:sp>
      <p:sp>
        <p:nvSpPr>
          <p:cNvPr id="11" name="card"/>
          <p:cNvSpPr/>
          <p:nvPr/>
        </p:nvSpPr>
        <p:spPr>
          <a:xfrm>
            <a:off x="6153912" y="1463040"/>
            <a:ext cx="5486400" cy="4572000"/>
          </a:xfrm>
          <a:prstGeom prst="roundRect">
            <a:avLst>
              <a:gd name="adj" fmla="val 24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3293D">
                <a:alpha val="12000"/>
              </a:srgbClr>
            </a:outerShdw>
          </a:effectLst>
        </p:spPr>
      </p:sp>
      <p:sp>
        <p:nvSpPr>
          <p:cNvPr id="12" name="etiqueta"/>
          <p:cNvSpPr/>
          <p:nvPr/>
        </p:nvSpPr>
        <p:spPr>
          <a:xfrm>
            <a:off x="6382512" y="1645920"/>
            <a:ext cx="1371600" cy="54864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382512" y="16459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bg1"/>
                </a:solidFill>
              </a:rPr>
              <a:t>SHH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6382512" y="2423160"/>
            <a:ext cx="2514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Deshidratación severa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Hipotensión, colapso circulatorio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Oliguria / anuria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Déficit sensitivo y/o motor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Convulsiones focales, afasia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8942832" y="2423160"/>
            <a:ext cx="2560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Letargo – coma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Glicemia ≥ 600 mg/dL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Osm. efectiva &gt; 300 mOsm/kg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BUN y hematocrito elevados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Alteraciones electrolíticas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9326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Cuidados prioritarios: primera hora</a:t>
            </a:r>
            <a:endParaRPr lang="en-US" sz="3200" dirty="0"/>
          </a:p>
        </p:txBody>
      </p:sp>
      <p:sp>
        <p:nvSpPr>
          <p:cNvPr id="3" name="chip seccion"/>
          <p:cNvSpPr/>
          <p:nvPr/>
        </p:nvSpPr>
        <p:spPr>
          <a:xfrm>
            <a:off x="10253167" y="548640"/>
            <a:ext cx="1389888" cy="3657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253167" y="548640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chemeClr val="bg1"/>
                </a:solidFill>
              </a:rPr>
              <a:t>ENFERMERÍA</a:t>
            </a:r>
            <a:endParaRPr lang="en-US" sz="1100" dirty="0"/>
          </a:p>
        </p:txBody>
      </p:sp>
      <p:sp>
        <p:nvSpPr>
          <p:cNvPr id="6" name="card"/>
          <p:cNvSpPr/>
          <p:nvPr/>
        </p:nvSpPr>
        <p:spPr>
          <a:xfrm>
            <a:off x="548640" y="1417320"/>
            <a:ext cx="3515258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3293D">
                <a:alpha val="12000"/>
              </a:srgbClr>
            </a:outerShdw>
          </a:effectLst>
        </p:spPr>
      </p:sp>
      <p:sp>
        <p:nvSpPr>
          <p:cNvPr id="7" name="icon circle"/>
          <p:cNvSpPr/>
          <p:nvPr/>
        </p:nvSpPr>
        <p:spPr>
          <a:xfrm>
            <a:off x="777240" y="1645920"/>
            <a:ext cx="640080" cy="64008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8" name="icon FaBrai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3661" y="1812341"/>
            <a:ext cx="307238" cy="30723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554480" y="1645920"/>
            <a:ext cx="23265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accent4"/>
                </a:solidFill>
              </a:rPr>
              <a:t>Neurológico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2423160"/>
            <a:ext cx="30580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Nivel de conciencia (Glasgow) seriado; pupilas; signos focales.</a:t>
            </a:r>
            <a:endParaRPr lang="en-US" sz="1700" dirty="0"/>
          </a:p>
        </p:txBody>
      </p:sp>
      <p:sp>
        <p:nvSpPr>
          <p:cNvPr id="11" name="card"/>
          <p:cNvSpPr/>
          <p:nvPr/>
        </p:nvSpPr>
        <p:spPr>
          <a:xfrm>
            <a:off x="4338218" y="1417320"/>
            <a:ext cx="3515258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3293D">
                <a:alpha val="12000"/>
              </a:srgbClr>
            </a:outerShdw>
          </a:effectLst>
        </p:spPr>
      </p:sp>
      <p:sp>
        <p:nvSpPr>
          <p:cNvPr id="12" name="icon circle"/>
          <p:cNvSpPr/>
          <p:nvPr/>
        </p:nvSpPr>
        <p:spPr>
          <a:xfrm>
            <a:off x="4566818" y="1645920"/>
            <a:ext cx="640080" cy="64008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3" name="icon FaHeartPuls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3239" y="1812341"/>
            <a:ext cx="307238" cy="30723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344058" y="1645920"/>
            <a:ext cx="23265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accent4"/>
                </a:solidFill>
              </a:rPr>
              <a:t>Monitorización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4566818" y="2423160"/>
            <a:ext cx="30580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Monitor multiparámetro: ECG continuo, PA, FC, FR, SpO₂, T°.</a:t>
            </a:r>
            <a:endParaRPr lang="en-US" sz="1700" dirty="0"/>
          </a:p>
        </p:txBody>
      </p:sp>
      <p:sp>
        <p:nvSpPr>
          <p:cNvPr id="16" name="card"/>
          <p:cNvSpPr/>
          <p:nvPr/>
        </p:nvSpPr>
        <p:spPr>
          <a:xfrm>
            <a:off x="8127797" y="1417320"/>
            <a:ext cx="3515258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3293D">
                <a:alpha val="12000"/>
              </a:srgbClr>
            </a:outerShdw>
          </a:effectLst>
        </p:spPr>
      </p:sp>
      <p:sp>
        <p:nvSpPr>
          <p:cNvPr id="17" name="icon circle"/>
          <p:cNvSpPr/>
          <p:nvPr/>
        </p:nvSpPr>
        <p:spPr>
          <a:xfrm>
            <a:off x="8356397" y="1645920"/>
            <a:ext cx="640080" cy="64008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8" name="icon FaLungs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2818" y="1812341"/>
            <a:ext cx="307238" cy="307238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133637" y="1645920"/>
            <a:ext cx="23265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accent4"/>
                </a:solidFill>
              </a:rPr>
              <a:t>Vía aérea</a:t>
            </a:r>
            <a:endParaRPr lang="en-US" sz="1800" dirty="0"/>
          </a:p>
        </p:txBody>
      </p:sp>
      <p:sp>
        <p:nvSpPr>
          <p:cNvPr id="20" name="Text 14"/>
          <p:cNvSpPr txBox="1"/>
          <p:nvPr/>
        </p:nvSpPr>
        <p:spPr>
          <a:xfrm>
            <a:off x="8356397" y="2423160"/>
            <a:ext cx="30580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O₂ según indicación; preparar equipo de vía aérea avanzada si hay compromiso.</a:t>
            </a:r>
            <a:endParaRPr lang="en-US" sz="1700" dirty="0"/>
          </a:p>
        </p:txBody>
      </p:sp>
      <p:sp>
        <p:nvSpPr>
          <p:cNvPr id="21" name="card"/>
          <p:cNvSpPr/>
          <p:nvPr/>
        </p:nvSpPr>
        <p:spPr>
          <a:xfrm>
            <a:off x="548640" y="3886200"/>
            <a:ext cx="3515258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3293D">
                <a:alpha val="12000"/>
              </a:srgbClr>
            </a:outerShdw>
          </a:effectLst>
        </p:spPr>
      </p:sp>
      <p:sp>
        <p:nvSpPr>
          <p:cNvPr id="22" name="icon circle"/>
          <p:cNvSpPr/>
          <p:nvPr/>
        </p:nvSpPr>
        <p:spPr>
          <a:xfrm>
            <a:off x="777240" y="4114800"/>
            <a:ext cx="640080" cy="64008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3" name="icon FaSyring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661" y="4281221"/>
            <a:ext cx="307238" cy="307238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554480" y="4114800"/>
            <a:ext cx="23265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accent4"/>
                </a:solidFill>
              </a:rPr>
              <a:t>Accesos</a:t>
            </a:r>
            <a:endParaRPr lang="en-US" sz="1800" dirty="0"/>
          </a:p>
        </p:txBody>
      </p:sp>
      <p:sp>
        <p:nvSpPr>
          <p:cNvPr id="25" name="Text 18"/>
          <p:cNvSpPr txBox="1"/>
          <p:nvPr/>
        </p:nvSpPr>
        <p:spPr>
          <a:xfrm>
            <a:off x="777240" y="4892040"/>
            <a:ext cx="30580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2 VVP de grueso calibre; toma de exámenes antes de iniciar tratamiento.</a:t>
            </a:r>
            <a:endParaRPr lang="en-US" sz="1700" dirty="0"/>
          </a:p>
        </p:txBody>
      </p:sp>
      <p:sp>
        <p:nvSpPr>
          <p:cNvPr id="26" name="card"/>
          <p:cNvSpPr/>
          <p:nvPr/>
        </p:nvSpPr>
        <p:spPr>
          <a:xfrm>
            <a:off x="4338218" y="3886200"/>
            <a:ext cx="3515258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3293D">
                <a:alpha val="12000"/>
              </a:srgbClr>
            </a:outerShdw>
          </a:effectLst>
        </p:spPr>
      </p:sp>
      <p:sp>
        <p:nvSpPr>
          <p:cNvPr id="27" name="icon circle"/>
          <p:cNvSpPr/>
          <p:nvPr/>
        </p:nvSpPr>
        <p:spPr>
          <a:xfrm>
            <a:off x="4566818" y="4114800"/>
            <a:ext cx="640080" cy="64008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8" name="icon FaDroplet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3239" y="4281221"/>
            <a:ext cx="307238" cy="307238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5344058" y="4114800"/>
            <a:ext cx="23265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accent4"/>
                </a:solidFill>
              </a:rPr>
              <a:t>Glicemia y cetonemia</a:t>
            </a:r>
            <a:endParaRPr lang="en-US" sz="1800" dirty="0"/>
          </a:p>
        </p:txBody>
      </p:sp>
      <p:sp>
        <p:nvSpPr>
          <p:cNvPr id="30" name="Text 22"/>
          <p:cNvSpPr txBox="1"/>
          <p:nvPr/>
        </p:nvSpPr>
        <p:spPr>
          <a:xfrm>
            <a:off x="4566818" y="4892040"/>
            <a:ext cx="30580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Glicemia capilar cada 1 h con insulina IV; β-OHB capilar seriado.</a:t>
            </a:r>
            <a:endParaRPr lang="en-US" sz="1700" dirty="0"/>
          </a:p>
        </p:txBody>
      </p:sp>
      <p:sp>
        <p:nvSpPr>
          <p:cNvPr id="31" name="card"/>
          <p:cNvSpPr/>
          <p:nvPr/>
        </p:nvSpPr>
        <p:spPr>
          <a:xfrm>
            <a:off x="8127797" y="3886200"/>
            <a:ext cx="3515258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3293D">
                <a:alpha val="12000"/>
              </a:srgbClr>
            </a:outerShdw>
          </a:effectLst>
        </p:spPr>
      </p:sp>
      <p:sp>
        <p:nvSpPr>
          <p:cNvPr id="32" name="icon circle"/>
          <p:cNvSpPr/>
          <p:nvPr/>
        </p:nvSpPr>
        <p:spPr>
          <a:xfrm>
            <a:off x="8356397" y="4114800"/>
            <a:ext cx="640080" cy="64008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33" name="icon FaMagnifyingGlass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22818" y="4281221"/>
            <a:ext cx="307238" cy="307238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9133637" y="4114800"/>
            <a:ext cx="23265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accent4"/>
                </a:solidFill>
              </a:rPr>
              <a:t>Desencadenante</a:t>
            </a:r>
            <a:endParaRPr lang="en-US" sz="1800" dirty="0"/>
          </a:p>
        </p:txBody>
      </p:sp>
      <p:sp>
        <p:nvSpPr>
          <p:cNvPr id="35" name="Text 26"/>
          <p:cNvSpPr txBox="1"/>
          <p:nvPr/>
        </p:nvSpPr>
        <p:spPr>
          <a:xfrm>
            <a:off x="8356397" y="4892040"/>
            <a:ext cx="30580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Buscar infección, fármacos (iSGLT2), adherencia, IAM, ACV.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9326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Cuidados continuos y monitorización</a:t>
            </a:r>
            <a:endParaRPr lang="en-US" sz="3200" dirty="0"/>
          </a:p>
        </p:txBody>
      </p:sp>
      <p:sp>
        <p:nvSpPr>
          <p:cNvPr id="3" name="chip seccion"/>
          <p:cNvSpPr/>
          <p:nvPr/>
        </p:nvSpPr>
        <p:spPr>
          <a:xfrm>
            <a:off x="10253167" y="548640"/>
            <a:ext cx="1389888" cy="3657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253167" y="548640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chemeClr val="bg1"/>
                </a:solidFill>
              </a:rPr>
              <a:t>ENFERMERÍA</a:t>
            </a:r>
            <a:endParaRPr lang="en-US" sz="1100" dirty="0"/>
          </a:p>
        </p:txBody>
      </p:sp>
      <p:sp>
        <p:nvSpPr>
          <p:cNvPr id="6" name="card"/>
          <p:cNvSpPr/>
          <p:nvPr/>
        </p:nvSpPr>
        <p:spPr>
          <a:xfrm>
            <a:off x="548640" y="1463040"/>
            <a:ext cx="548640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3293D">
                <a:alpha val="12000"/>
              </a:srgbClr>
            </a:outerShdw>
          </a:effectLst>
        </p:spPr>
      </p:sp>
      <p:sp>
        <p:nvSpPr>
          <p:cNvPr id="7" name="icon circle"/>
          <p:cNvSpPr/>
          <p:nvPr/>
        </p:nvSpPr>
        <p:spPr>
          <a:xfrm>
            <a:off x="777240" y="1764792"/>
            <a:ext cx="731520" cy="7315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8" name="icon FaPrescriptionBottleMedical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7435" y="1954987"/>
            <a:ext cx="351130" cy="35113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737360" y="1463040"/>
            <a:ext cx="4114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Administrar fluidos, K⁺ e insulina por bomba según protocolo, con doble chequeo</a:t>
            </a:r>
            <a:endParaRPr lang="en-US" sz="1800" dirty="0"/>
          </a:p>
        </p:txBody>
      </p:sp>
      <p:sp>
        <p:nvSpPr>
          <p:cNvPr id="10" name="card"/>
          <p:cNvSpPr/>
          <p:nvPr/>
        </p:nvSpPr>
        <p:spPr>
          <a:xfrm>
            <a:off x="6153912" y="1463040"/>
            <a:ext cx="548640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3293D">
                <a:alpha val="12000"/>
              </a:srgbClr>
            </a:outerShdw>
          </a:effectLst>
        </p:spPr>
      </p:sp>
      <p:sp>
        <p:nvSpPr>
          <p:cNvPr id="11" name="icon circle"/>
          <p:cNvSpPr/>
          <p:nvPr/>
        </p:nvSpPr>
        <p:spPr>
          <a:xfrm>
            <a:off x="6382512" y="1764792"/>
            <a:ext cx="731520" cy="7315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2" name="icon FaToilet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707" y="1954987"/>
            <a:ext cx="351130" cy="35113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342632" y="1463040"/>
            <a:ext cx="4114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Sonda Foley si hay compromiso de conciencia, shock u oliguria: diuresis horaria</a:t>
            </a:r>
            <a:endParaRPr lang="en-US" sz="1800" dirty="0"/>
          </a:p>
        </p:txBody>
      </p:sp>
      <p:sp>
        <p:nvSpPr>
          <p:cNvPr id="14" name="card"/>
          <p:cNvSpPr/>
          <p:nvPr/>
        </p:nvSpPr>
        <p:spPr>
          <a:xfrm>
            <a:off x="548640" y="3017520"/>
            <a:ext cx="548640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3293D">
                <a:alpha val="12000"/>
              </a:srgbClr>
            </a:outerShdw>
          </a:effectLst>
        </p:spPr>
      </p:sp>
      <p:sp>
        <p:nvSpPr>
          <p:cNvPr id="15" name="icon circle"/>
          <p:cNvSpPr/>
          <p:nvPr/>
        </p:nvSpPr>
        <p:spPr>
          <a:xfrm>
            <a:off x="777240" y="3319272"/>
            <a:ext cx="731520" cy="7315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6" name="icon FaFlask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435" y="3509467"/>
            <a:ext cx="351130" cy="35113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737360" y="3017520"/>
            <a:ext cx="4114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Exámenes cada 2–4 h: electrolitos, β-OHB, gases venosos, creatinina</a:t>
            </a:r>
            <a:endParaRPr lang="en-US" sz="1800" dirty="0"/>
          </a:p>
        </p:txBody>
      </p:sp>
      <p:sp>
        <p:nvSpPr>
          <p:cNvPr id="18" name="card"/>
          <p:cNvSpPr/>
          <p:nvPr/>
        </p:nvSpPr>
        <p:spPr>
          <a:xfrm>
            <a:off x="6153912" y="3017520"/>
            <a:ext cx="548640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3293D">
                <a:alpha val="12000"/>
              </a:srgbClr>
            </a:outerShdw>
          </a:effectLst>
        </p:spPr>
      </p:sp>
      <p:sp>
        <p:nvSpPr>
          <p:cNvPr id="19" name="icon circle"/>
          <p:cNvSpPr/>
          <p:nvPr/>
        </p:nvSpPr>
        <p:spPr>
          <a:xfrm>
            <a:off x="6382512" y="3319272"/>
            <a:ext cx="731520" cy="7315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0" name="icon FaScaleBalanced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2707" y="3509467"/>
            <a:ext cx="351130" cy="35113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7342632" y="3017520"/>
            <a:ext cx="4114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Balance hídrico estricto y peso diario</a:t>
            </a:r>
            <a:endParaRPr lang="en-US" sz="1800" dirty="0"/>
          </a:p>
        </p:txBody>
      </p:sp>
      <p:sp>
        <p:nvSpPr>
          <p:cNvPr id="22" name="card"/>
          <p:cNvSpPr/>
          <p:nvPr/>
        </p:nvSpPr>
        <p:spPr>
          <a:xfrm>
            <a:off x="548640" y="4572000"/>
            <a:ext cx="548640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3293D">
                <a:alpha val="12000"/>
              </a:srgbClr>
            </a:outerShdw>
          </a:effectLst>
        </p:spPr>
      </p:sp>
      <p:sp>
        <p:nvSpPr>
          <p:cNvPr id="23" name="icon circle"/>
          <p:cNvSpPr/>
          <p:nvPr/>
        </p:nvSpPr>
        <p:spPr>
          <a:xfrm>
            <a:off x="777240" y="4873752"/>
            <a:ext cx="731520" cy="7315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4" name="icon FaArrowDow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7435" y="5063947"/>
            <a:ext cx="351130" cy="351130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1737360" y="4572000"/>
            <a:ext cx="4114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SNG si vómitos persistentes, íleo o compromiso de conciencia</a:t>
            </a:r>
            <a:endParaRPr lang="en-US" sz="1800" dirty="0"/>
          </a:p>
        </p:txBody>
      </p:sp>
      <p:sp>
        <p:nvSpPr>
          <p:cNvPr id="26" name="card"/>
          <p:cNvSpPr/>
          <p:nvPr/>
        </p:nvSpPr>
        <p:spPr>
          <a:xfrm>
            <a:off x="6153912" y="4572000"/>
            <a:ext cx="548640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3293D">
                <a:alpha val="12000"/>
              </a:srgbClr>
            </a:outerShdw>
          </a:effectLst>
        </p:spPr>
      </p:sp>
      <p:sp>
        <p:nvSpPr>
          <p:cNvPr id="27" name="icon circle"/>
          <p:cNvSpPr/>
          <p:nvPr/>
        </p:nvSpPr>
        <p:spPr>
          <a:xfrm>
            <a:off x="6382512" y="4873752"/>
            <a:ext cx="731520" cy="7315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8" name="icon FaFileMedical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2707" y="5063947"/>
            <a:ext cx="351130" cy="351130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7342632" y="4572000"/>
            <a:ext cx="4114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Registro de todas las intervenciones, respuestas y horarios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9326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Complicaciones del tratamiento: vigilancia</a:t>
            </a:r>
            <a:endParaRPr lang="en-US" sz="3200" dirty="0"/>
          </a:p>
        </p:txBody>
      </p:sp>
      <p:sp>
        <p:nvSpPr>
          <p:cNvPr id="3" name="chip seccion"/>
          <p:cNvSpPr/>
          <p:nvPr/>
        </p:nvSpPr>
        <p:spPr>
          <a:xfrm>
            <a:off x="10253167" y="548640"/>
            <a:ext cx="1389888" cy="3657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253167" y="548640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chemeClr val="bg1"/>
                </a:solidFill>
              </a:rPr>
              <a:t>ENFERMERÍA</a:t>
            </a:r>
            <a:endParaRPr lang="en-US" sz="11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167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3840480"/>
                <a:gridCol w="4325112"/>
              </a:tblGrid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Complicación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Señal de alerta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8A7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Prevención / acción de enfermería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8A7E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Hipoglicemia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Glicemia &lt; 70 mg/dL, sudoración, confusión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Dextrosa al llegar a &lt; 250; glicemia capilar horaria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Hipokalemia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Debilidad, íleo, arritmias, ondas U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K⁺ seriado; no iniciar insulina con K⁺ &lt; 3,5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Acidosis hiperclorémica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HCO₃⁻ bajo con cetonemia normalizada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Preferir cristaloides balanceados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Edema cerebral / desmielinización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Cefalea, vómitos, bradicardia, ↓ Glasgow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Respetar velocidades de descenso de glicemia, osmolalidad y Na⁺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Trombosis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Edema de extremidad, disnea, déficit focal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Tromboprofilaxis, movilización precoz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Sobrecarga de volumen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Crépitos, ↓ SpO₂, ingurgitación yugular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Bolos pequeños en adultos mayores, IC o ERC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9326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Antes del alta: prevenir el reingreso</a:t>
            </a:r>
            <a:endParaRPr lang="en-US" sz="3200" dirty="0"/>
          </a:p>
        </p:txBody>
      </p:sp>
      <p:sp>
        <p:nvSpPr>
          <p:cNvPr id="3" name="chip seccion"/>
          <p:cNvSpPr/>
          <p:nvPr/>
        </p:nvSpPr>
        <p:spPr>
          <a:xfrm>
            <a:off x="10253167" y="548640"/>
            <a:ext cx="1389888" cy="3657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253167" y="548640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chemeClr val="bg1"/>
                </a:solidFill>
              </a:rPr>
              <a:t>ENFERMERÍA</a:t>
            </a:r>
            <a:endParaRPr lang="en-US" sz="1100" dirty="0"/>
          </a:p>
        </p:txBody>
      </p:sp>
      <p:sp>
        <p:nvSpPr>
          <p:cNvPr id="6" name="card"/>
          <p:cNvSpPr/>
          <p:nvPr/>
        </p:nvSpPr>
        <p:spPr>
          <a:xfrm>
            <a:off x="548640" y="1463040"/>
            <a:ext cx="5410048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3293D">
                <a:alpha val="12000"/>
              </a:srgbClr>
            </a:outerShdw>
          </a:effectLst>
        </p:spPr>
      </p:sp>
      <p:sp>
        <p:nvSpPr>
          <p:cNvPr id="7" name="icon circle"/>
          <p:cNvSpPr/>
          <p:nvPr/>
        </p:nvSpPr>
        <p:spPr>
          <a:xfrm>
            <a:off x="777240" y="1691640"/>
            <a:ext cx="640080" cy="64008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8" name="icon FaCalendarCheck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3661" y="1858061"/>
            <a:ext cx="307238" cy="30723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554480" y="1691640"/>
            <a:ext cx="4221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900" b="1" dirty="0">
                <a:solidFill>
                  <a:schemeClr val="accent4"/>
                </a:solidFill>
              </a:rPr>
              <a:t>Días de enfermedad</a:t>
            </a:r>
            <a:endParaRPr 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2468880"/>
            <a:ext cx="49528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Nunca suspender la insulina basal; medir glicemia y cetonas cada 3–4 h; hidratación.</a:t>
            </a:r>
            <a:endParaRPr lang="en-US" sz="1900" dirty="0"/>
          </a:p>
        </p:txBody>
      </p:sp>
      <p:sp>
        <p:nvSpPr>
          <p:cNvPr id="11" name="card"/>
          <p:cNvSpPr/>
          <p:nvPr/>
        </p:nvSpPr>
        <p:spPr>
          <a:xfrm>
            <a:off x="6233008" y="1463040"/>
            <a:ext cx="5410048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3293D">
                <a:alpha val="12000"/>
              </a:srgbClr>
            </a:outerShdw>
          </a:effectLst>
        </p:spPr>
      </p:sp>
      <p:sp>
        <p:nvSpPr>
          <p:cNvPr id="12" name="icon circle"/>
          <p:cNvSpPr/>
          <p:nvPr/>
        </p:nvSpPr>
        <p:spPr>
          <a:xfrm>
            <a:off x="6461608" y="1691640"/>
            <a:ext cx="640080" cy="64008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3" name="icon FaPills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8028" y="1858061"/>
            <a:ext cx="307238" cy="30723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238848" y="1691640"/>
            <a:ext cx="4221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900" b="1" dirty="0">
                <a:solidFill>
                  <a:schemeClr val="accent4"/>
                </a:solidFill>
              </a:rPr>
              <a:t>Fármacos</a:t>
            </a:r>
            <a:endParaRPr lang="en-US" sz="1900" dirty="0"/>
          </a:p>
        </p:txBody>
      </p:sp>
      <p:sp>
        <p:nvSpPr>
          <p:cNvPr id="15" name="Text 10"/>
          <p:cNvSpPr txBox="1"/>
          <p:nvPr/>
        </p:nvSpPr>
        <p:spPr>
          <a:xfrm>
            <a:off x="6461608" y="2468880"/>
            <a:ext cx="49528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Educar sobre iSGLT2: suspender en enfermedad aguda, ayuno o antes de cirugía.</a:t>
            </a:r>
            <a:endParaRPr lang="en-US" sz="1900" dirty="0"/>
          </a:p>
        </p:txBody>
      </p:sp>
      <p:sp>
        <p:nvSpPr>
          <p:cNvPr id="16" name="card"/>
          <p:cNvSpPr/>
          <p:nvPr/>
        </p:nvSpPr>
        <p:spPr>
          <a:xfrm>
            <a:off x="548640" y="3794760"/>
            <a:ext cx="5410048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3293D">
                <a:alpha val="12000"/>
              </a:srgbClr>
            </a:outerShdw>
          </a:effectLst>
        </p:spPr>
      </p:sp>
      <p:sp>
        <p:nvSpPr>
          <p:cNvPr id="17" name="icon circle"/>
          <p:cNvSpPr/>
          <p:nvPr/>
        </p:nvSpPr>
        <p:spPr>
          <a:xfrm>
            <a:off x="777240" y="4023360"/>
            <a:ext cx="640080" cy="64008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8" name="icon FaMobileScree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661" y="4189781"/>
            <a:ext cx="307238" cy="307238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554480" y="4023360"/>
            <a:ext cx="4221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900" b="1" dirty="0">
                <a:solidFill>
                  <a:schemeClr val="accent4"/>
                </a:solidFill>
              </a:rPr>
              <a:t>Tecnología</a:t>
            </a:r>
            <a:endParaRPr lang="en-US" sz="1900" dirty="0"/>
          </a:p>
        </p:txBody>
      </p:sp>
      <p:sp>
        <p:nvSpPr>
          <p:cNvPr id="20" name="Text 14"/>
          <p:cNvSpPr txBox="1"/>
          <p:nvPr/>
        </p:nvSpPr>
        <p:spPr>
          <a:xfrm>
            <a:off x="777240" y="4800600"/>
            <a:ext cx="49528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Medidor de cetonas capilares; monitoreo continuo de glucosa cuando esté disponible.</a:t>
            </a:r>
            <a:endParaRPr lang="en-US" sz="1900" dirty="0"/>
          </a:p>
        </p:txBody>
      </p:sp>
      <p:sp>
        <p:nvSpPr>
          <p:cNvPr id="21" name="card"/>
          <p:cNvSpPr/>
          <p:nvPr/>
        </p:nvSpPr>
        <p:spPr>
          <a:xfrm>
            <a:off x="6233008" y="3794760"/>
            <a:ext cx="5410048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3293D">
                <a:alpha val="12000"/>
              </a:srgbClr>
            </a:outerShdw>
          </a:effectLst>
        </p:spPr>
      </p:sp>
      <p:sp>
        <p:nvSpPr>
          <p:cNvPr id="22" name="icon circle"/>
          <p:cNvSpPr/>
          <p:nvPr/>
        </p:nvSpPr>
        <p:spPr>
          <a:xfrm>
            <a:off x="6461608" y="4023360"/>
            <a:ext cx="640080" cy="64008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3" name="icon FaPeopleRoof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8028" y="4189781"/>
            <a:ext cx="307238" cy="307238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7238848" y="4023360"/>
            <a:ext cx="4221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900" b="1" dirty="0">
                <a:solidFill>
                  <a:schemeClr val="accent4"/>
                </a:solidFill>
              </a:rPr>
              <a:t>Red de apoyo</a:t>
            </a:r>
            <a:endParaRPr lang="en-US" sz="1900" dirty="0"/>
          </a:p>
        </p:txBody>
      </p:sp>
      <p:sp>
        <p:nvSpPr>
          <p:cNvPr id="25" name="Text 18"/>
          <p:cNvSpPr txBox="1"/>
          <p:nvPr/>
        </p:nvSpPr>
        <p:spPr>
          <a:xfrm>
            <a:off x="6461608" y="4800600"/>
            <a:ext cx="49528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Control precoz, acceso a insulina, salud mental, signos de alarma para consultar.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irculo seccion"/>
          <p:cNvSpPr/>
          <p:nvPr/>
        </p:nvSpPr>
        <p:spPr>
          <a:xfrm>
            <a:off x="8595360" y="1463040"/>
            <a:ext cx="4206240" cy="42062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3" name="icono secci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0" y="2560320"/>
            <a:ext cx="2011680" cy="20116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73152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6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731520" y="1737360"/>
            <a:ext cx="7680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Hipoglicemia</a:t>
            </a:r>
            <a:endParaRPr lang="en-US" sz="40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731520" y="43434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Definición, clasificación y tratamiento</a:t>
            </a:r>
            <a:endParaRPr lang="en-US" sz="1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9326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Hipoglicemia: definición y causas</a:t>
            </a:r>
            <a:endParaRPr lang="en-US" sz="3200" dirty="0"/>
          </a:p>
        </p:txBody>
      </p:sp>
      <p:sp>
        <p:nvSpPr>
          <p:cNvPr id="3" name="chip seccion"/>
          <p:cNvSpPr/>
          <p:nvPr/>
        </p:nvSpPr>
        <p:spPr>
          <a:xfrm>
            <a:off x="10015423" y="548640"/>
            <a:ext cx="1627632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015423" y="54864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chemeClr val="bg1"/>
                </a:solidFill>
              </a:rPr>
              <a:t>HIPOGLICEMIA</a:t>
            </a:r>
            <a:endParaRPr lang="en-US" sz="1100" dirty="0"/>
          </a:p>
        </p:txBody>
      </p:sp>
      <p:sp>
        <p:nvSpPr>
          <p:cNvPr id="6" name="card"/>
          <p:cNvSpPr/>
          <p:nvPr/>
        </p:nvSpPr>
        <p:spPr>
          <a:xfrm>
            <a:off x="548640" y="1463040"/>
            <a:ext cx="6400800" cy="1828800"/>
          </a:xfrm>
          <a:prstGeom prst="roundRect">
            <a:avLst>
              <a:gd name="adj" fmla="val 6000"/>
            </a:avLst>
          </a:prstGeom>
          <a:solidFill>
            <a:schemeClr val="accent3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22960" y="1463040"/>
            <a:ext cx="5852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Glicemia anormalmente baja, con o sin síntomas, que expone al paciente a daño. </a:t>
            </a:r>
            <a:pPr indent="0" marL="0">
              <a:spcAft>
                <a:spcPts val="4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En personas con diabetes: &lt; 70 mg/dL.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5661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accent3"/>
                </a:solidFill>
              </a:rPr>
              <a:t>Mecanismo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97764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Exceso de insulina (o secretagogos), absoluto o relativo, frente a la respuesta fisiológica contrarreguladora.</a:t>
            </a:r>
            <a:endParaRPr lang="en-US" sz="1700" dirty="0"/>
          </a:p>
        </p:txBody>
      </p:sp>
      <p:sp>
        <p:nvSpPr>
          <p:cNvPr id="10" name="card"/>
          <p:cNvSpPr/>
          <p:nvPr/>
        </p:nvSpPr>
        <p:spPr>
          <a:xfrm>
            <a:off x="7315200" y="1463040"/>
            <a:ext cx="4325112" cy="4572000"/>
          </a:xfrm>
          <a:prstGeom prst="roundRect">
            <a:avLst>
              <a:gd name="adj" fmla="val 2537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3293D">
                <a:alpha val="12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7543800" y="16459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accent3"/>
                </a:solidFill>
              </a:rPr>
              <a:t>Causas frecuentes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7543800" y="2148840"/>
            <a:ext cx="39319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Dosis excesiva de insulina o sulfonilureas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Menor ingesta o ayuno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Exceso de actividad física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Alcohol (↓ gluconeogénesis)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Enfermedad renal crónica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Insuficiencia hepática, sepsis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9326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Manifestaciones clínicas</a:t>
            </a:r>
            <a:endParaRPr lang="en-US" sz="3200" dirty="0"/>
          </a:p>
        </p:txBody>
      </p:sp>
      <p:sp>
        <p:nvSpPr>
          <p:cNvPr id="3" name="chip seccion"/>
          <p:cNvSpPr/>
          <p:nvPr/>
        </p:nvSpPr>
        <p:spPr>
          <a:xfrm>
            <a:off x="10015423" y="548640"/>
            <a:ext cx="1627632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015423" y="54864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chemeClr val="bg1"/>
                </a:solidFill>
              </a:rPr>
              <a:t>HIPOGLICEMIA</a:t>
            </a:r>
            <a:endParaRPr lang="en-US" sz="1100" dirty="0"/>
          </a:p>
        </p:txBody>
      </p:sp>
      <p:sp>
        <p:nvSpPr>
          <p:cNvPr id="6" name="card"/>
          <p:cNvSpPr/>
          <p:nvPr/>
        </p:nvSpPr>
        <p:spPr>
          <a:xfrm>
            <a:off x="548640" y="1463040"/>
            <a:ext cx="5486400" cy="4572000"/>
          </a:xfrm>
          <a:prstGeom prst="roundRect">
            <a:avLst>
              <a:gd name="adj" fmla="val 24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3293D">
                <a:alpha val="12000"/>
              </a:srgbClr>
            </a:outerShdw>
          </a:effectLst>
        </p:spPr>
      </p:sp>
      <p:sp>
        <p:nvSpPr>
          <p:cNvPr id="7" name="icon circle"/>
          <p:cNvSpPr/>
          <p:nvPr/>
        </p:nvSpPr>
        <p:spPr>
          <a:xfrm>
            <a:off x="777240" y="1691640"/>
            <a:ext cx="731520" cy="7315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8" name="icon FaHeartPuls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7435" y="1881835"/>
            <a:ext cx="351130" cy="35113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91640" y="16459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900" b="1" dirty="0">
                <a:solidFill>
                  <a:schemeClr val="accent3"/>
                </a:solidFill>
              </a:rPr>
              <a:t>Autonómicos (neurogénicos)</a:t>
            </a:r>
            <a:endParaRPr 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1691640" y="21031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i="1" dirty="0">
                <a:solidFill>
                  <a:schemeClr val="accent6"/>
                </a:solidFill>
              </a:rPr>
              <a:t>Descarga simpático-adrenal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822960" y="2743200"/>
            <a:ext cx="49377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Palpitaciones, taquicardia</a:t>
            </a:r>
            <a:endParaRPr lang="en-US" sz="19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Temblor, ansiedad, irritabilidad</a:t>
            </a:r>
            <a:endParaRPr lang="en-US" sz="19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Sudoración fría, palidez</a:t>
            </a:r>
            <a:endParaRPr lang="en-US" sz="19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Hambre, náuseas</a:t>
            </a:r>
            <a:endParaRPr lang="en-US" sz="19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Parestesias</a:t>
            </a:r>
            <a:endParaRPr lang="en-US" sz="1900" dirty="0"/>
          </a:p>
        </p:txBody>
      </p:sp>
      <p:sp>
        <p:nvSpPr>
          <p:cNvPr id="12" name="card"/>
          <p:cNvSpPr/>
          <p:nvPr/>
        </p:nvSpPr>
        <p:spPr>
          <a:xfrm>
            <a:off x="6153912" y="1463040"/>
            <a:ext cx="5486400" cy="4572000"/>
          </a:xfrm>
          <a:prstGeom prst="roundRect">
            <a:avLst>
              <a:gd name="adj" fmla="val 24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3293D">
                <a:alpha val="12000"/>
              </a:srgbClr>
            </a:outerShdw>
          </a:effectLst>
        </p:spPr>
      </p:sp>
      <p:sp>
        <p:nvSpPr>
          <p:cNvPr id="13" name="icon circle"/>
          <p:cNvSpPr/>
          <p:nvPr/>
        </p:nvSpPr>
        <p:spPr>
          <a:xfrm>
            <a:off x="6382512" y="1691640"/>
            <a:ext cx="731520" cy="7315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4" name="icon FaBrai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707" y="1881835"/>
            <a:ext cx="351130" cy="35113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7296912" y="16459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900" b="1" dirty="0">
                <a:solidFill>
                  <a:schemeClr val="accent3"/>
                </a:solidFill>
              </a:rPr>
              <a:t>Neuroglucopénicos</a:t>
            </a:r>
            <a:endParaRPr lang="en-US" sz="1900" dirty="0"/>
          </a:p>
        </p:txBody>
      </p:sp>
      <p:sp>
        <p:nvSpPr>
          <p:cNvPr id="16" name="Text 11"/>
          <p:cNvSpPr txBox="1"/>
          <p:nvPr/>
        </p:nvSpPr>
        <p:spPr>
          <a:xfrm>
            <a:off x="7296912" y="21031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i="1" dirty="0">
                <a:solidFill>
                  <a:schemeClr val="accent6"/>
                </a:solidFill>
              </a:rPr>
              <a:t>Privación de glucosa al SNC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6428232" y="2743200"/>
            <a:ext cx="49377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Cefalea, fatiga, bradipsiquia</a:t>
            </a:r>
            <a:endParaRPr lang="en-US" sz="19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Confusión, trastornos conductuales</a:t>
            </a:r>
            <a:endParaRPr lang="en-US" sz="19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Visión borrosa, diplopía</a:t>
            </a:r>
            <a:endParaRPr lang="en-US" sz="19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Convulsiones, déficit focal</a:t>
            </a:r>
            <a:endParaRPr lang="en-US" sz="19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Coma, arritmias, muerte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9326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Clasificación de la hipoglicemia (ADA)</a:t>
            </a:r>
            <a:endParaRPr lang="en-US" sz="3200" dirty="0"/>
          </a:p>
        </p:txBody>
      </p:sp>
      <p:sp>
        <p:nvSpPr>
          <p:cNvPr id="3" name="chip seccion"/>
          <p:cNvSpPr/>
          <p:nvPr/>
        </p:nvSpPr>
        <p:spPr>
          <a:xfrm>
            <a:off x="10015423" y="548640"/>
            <a:ext cx="1627632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015423" y="54864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chemeClr val="bg1"/>
                </a:solidFill>
              </a:rPr>
              <a:t>HIPOGLICEMIA</a:t>
            </a:r>
            <a:endParaRPr lang="en-US" sz="1100" dirty="0"/>
          </a:p>
        </p:txBody>
      </p:sp>
      <p:sp>
        <p:nvSpPr>
          <p:cNvPr id="6" name="card"/>
          <p:cNvSpPr/>
          <p:nvPr/>
        </p:nvSpPr>
        <p:spPr>
          <a:xfrm>
            <a:off x="548640" y="1508760"/>
            <a:ext cx="3566160" cy="452628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3293D">
                <a:alpha val="12000"/>
              </a:srgbClr>
            </a:outerShdw>
          </a:effectLst>
        </p:spPr>
      </p:sp>
      <p:sp>
        <p:nvSpPr>
          <p:cNvPr id="7" name="nivel"/>
          <p:cNvSpPr/>
          <p:nvPr/>
        </p:nvSpPr>
        <p:spPr>
          <a:xfrm>
            <a:off x="777240" y="1737360"/>
            <a:ext cx="3108960" cy="731520"/>
          </a:xfrm>
          <a:prstGeom prst="roundRect">
            <a:avLst>
              <a:gd name="adj" fmla="val 12500"/>
            </a:avLst>
          </a:prstGeom>
          <a:solidFill>
            <a:srgbClr val="E9B04D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77240" y="17373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Nivel 1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6974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E9B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70 y ≥ 54 mg/dL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3657600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Alerta: requiere tratamiento con carbohidratos y ajuste terapéutico.</a:t>
            </a:r>
            <a:endParaRPr lang="en-US" sz="1900" dirty="0"/>
          </a:p>
        </p:txBody>
      </p:sp>
      <p:sp>
        <p:nvSpPr>
          <p:cNvPr id="11" name="card"/>
          <p:cNvSpPr/>
          <p:nvPr/>
        </p:nvSpPr>
        <p:spPr>
          <a:xfrm>
            <a:off x="4370832" y="1508760"/>
            <a:ext cx="3566160" cy="452628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3293D">
                <a:alpha val="12000"/>
              </a:srgbClr>
            </a:outerShdw>
          </a:effectLst>
        </p:spPr>
      </p:sp>
      <p:sp>
        <p:nvSpPr>
          <p:cNvPr id="12" name="nivel"/>
          <p:cNvSpPr/>
          <p:nvPr/>
        </p:nvSpPr>
        <p:spPr>
          <a:xfrm>
            <a:off x="4599432" y="1737360"/>
            <a:ext cx="3108960" cy="731520"/>
          </a:xfrm>
          <a:prstGeom prst="roundRect">
            <a:avLst>
              <a:gd name="adj" fmla="val 12500"/>
            </a:avLst>
          </a:prstGeom>
          <a:solidFill>
            <a:srgbClr val="E08A1E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4599432" y="17373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Nivel 2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4599432" y="26974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E08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54 mg/dL</a:t>
            </a:r>
            <a:endParaRPr lang="en-US" sz="2600" dirty="0"/>
          </a:p>
        </p:txBody>
      </p:sp>
      <p:sp>
        <p:nvSpPr>
          <p:cNvPr id="15" name="Text 12"/>
          <p:cNvSpPr txBox="1"/>
          <p:nvPr/>
        </p:nvSpPr>
        <p:spPr>
          <a:xfrm>
            <a:off x="4645152" y="3657600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Clínicamente significativa: síntomas neuroglucopénicos; acción inmediata.</a:t>
            </a:r>
            <a:endParaRPr lang="en-US" sz="1900" dirty="0"/>
          </a:p>
        </p:txBody>
      </p:sp>
      <p:sp>
        <p:nvSpPr>
          <p:cNvPr id="16" name="card"/>
          <p:cNvSpPr/>
          <p:nvPr/>
        </p:nvSpPr>
        <p:spPr>
          <a:xfrm>
            <a:off x="8193024" y="1508760"/>
            <a:ext cx="3566160" cy="452628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3293D">
                <a:alpha val="12000"/>
              </a:srgbClr>
            </a:outerShdw>
          </a:effectLst>
        </p:spPr>
      </p:sp>
      <p:sp>
        <p:nvSpPr>
          <p:cNvPr id="17" name="nivel"/>
          <p:cNvSpPr/>
          <p:nvPr/>
        </p:nvSpPr>
        <p:spPr>
          <a:xfrm>
            <a:off x="8421624" y="1737360"/>
            <a:ext cx="3108960" cy="731520"/>
          </a:xfrm>
          <a:prstGeom prst="roundRect">
            <a:avLst>
              <a:gd name="adj" fmla="val 12500"/>
            </a:avLst>
          </a:prstGeom>
          <a:solidFill>
            <a:srgbClr val="D63A47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421624" y="17373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Nivel 3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8421624" y="26974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D63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Cualquier valor</a:t>
            </a:r>
            <a:endParaRPr lang="en-US" sz="2600" dirty="0"/>
          </a:p>
        </p:txBody>
      </p:sp>
      <p:sp>
        <p:nvSpPr>
          <p:cNvPr id="20" name="Text 17"/>
          <p:cNvSpPr txBox="1"/>
          <p:nvPr/>
        </p:nvSpPr>
        <p:spPr>
          <a:xfrm>
            <a:off x="8467344" y="3657600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Evento severo: alteración mental o física que requiere asistencia de otra persona.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9326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Tratamiento de la hipoglicemia</a:t>
            </a:r>
            <a:endParaRPr lang="en-US" sz="3200" dirty="0"/>
          </a:p>
        </p:txBody>
      </p:sp>
      <p:sp>
        <p:nvSpPr>
          <p:cNvPr id="3" name="chip seccion"/>
          <p:cNvSpPr/>
          <p:nvPr/>
        </p:nvSpPr>
        <p:spPr>
          <a:xfrm>
            <a:off x="10015423" y="548640"/>
            <a:ext cx="1627632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015423" y="54864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chemeClr val="bg1"/>
                </a:solidFill>
              </a:rPr>
              <a:t>HIPOGLICEMIA</a:t>
            </a:r>
            <a:endParaRPr lang="en-US" sz="1100" dirty="0"/>
          </a:p>
        </p:txBody>
      </p:sp>
      <p:sp>
        <p:nvSpPr>
          <p:cNvPr id="6" name="card"/>
          <p:cNvSpPr/>
          <p:nvPr/>
        </p:nvSpPr>
        <p:spPr>
          <a:xfrm>
            <a:off x="548640" y="1463040"/>
            <a:ext cx="3566160" cy="393192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3293D">
                <a:alpha val="12000"/>
              </a:srgbClr>
            </a:outerShdw>
          </a:effectLst>
        </p:spPr>
      </p:sp>
      <p:sp>
        <p:nvSpPr>
          <p:cNvPr id="7" name="icon circle"/>
          <p:cNvSpPr/>
          <p:nvPr/>
        </p:nvSpPr>
        <p:spPr>
          <a:xfrm>
            <a:off x="777240" y="1691640"/>
            <a:ext cx="731520" cy="7315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8" name="icon FaGlassWater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7435" y="1881835"/>
            <a:ext cx="351130" cy="35113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45920" y="164592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3"/>
                </a:solidFill>
              </a:rPr>
              <a:t>Consciente y puede deglutir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2697480"/>
            <a:ext cx="31546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Regla 15-15: 15–20 g de carbohidratos de absorción rápida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Repetir glicemia a los 15 min; repetir si sigue &lt; 70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Al normalizar: colación con carbohidratos complejos</a:t>
            </a:r>
            <a:endParaRPr lang="en-US" sz="1600" dirty="0"/>
          </a:p>
        </p:txBody>
      </p:sp>
      <p:sp>
        <p:nvSpPr>
          <p:cNvPr id="11" name="card"/>
          <p:cNvSpPr/>
          <p:nvPr/>
        </p:nvSpPr>
        <p:spPr>
          <a:xfrm>
            <a:off x="4370832" y="1463040"/>
            <a:ext cx="3566160" cy="393192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3293D">
                <a:alpha val="12000"/>
              </a:srgbClr>
            </a:outerShdw>
          </a:effectLst>
        </p:spPr>
      </p:sp>
      <p:sp>
        <p:nvSpPr>
          <p:cNvPr id="12" name="icon circle"/>
          <p:cNvSpPr/>
          <p:nvPr/>
        </p:nvSpPr>
        <p:spPr>
          <a:xfrm>
            <a:off x="4599432" y="16916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con FaSyring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627" y="1881835"/>
            <a:ext cx="351130" cy="35113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468112" y="164592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Compromiso de conciencia o régimen cero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4599432" y="2697480"/>
            <a:ext cx="31546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Glucosa EV 10–25 g (ej.: 3 amp de glucosa 30% de 20 mL)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Luego SG 10% en infusión según indicación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Glicemia capilar cada 10–15 min hasta &gt; 70</a:t>
            </a:r>
            <a:endParaRPr lang="en-US" sz="1600" dirty="0"/>
          </a:p>
        </p:txBody>
      </p:sp>
      <p:sp>
        <p:nvSpPr>
          <p:cNvPr id="16" name="card"/>
          <p:cNvSpPr/>
          <p:nvPr/>
        </p:nvSpPr>
        <p:spPr>
          <a:xfrm>
            <a:off x="8193024" y="1463040"/>
            <a:ext cx="3566160" cy="393192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3293D">
                <a:alpha val="12000"/>
              </a:srgbClr>
            </a:outerShdw>
          </a:effectLst>
        </p:spPr>
      </p:sp>
      <p:sp>
        <p:nvSpPr>
          <p:cNvPr id="17" name="icon circle"/>
          <p:cNvSpPr/>
          <p:nvPr/>
        </p:nvSpPr>
        <p:spPr>
          <a:xfrm>
            <a:off x="8421624" y="169164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8" name="icon FaKitMedical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1819" y="1881835"/>
            <a:ext cx="351130" cy="35113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290304" y="164592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2"/>
                </a:solidFill>
              </a:rPr>
              <a:t>Sin acceso venoso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8421624" y="2697480"/>
            <a:ext cx="31546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Glucagón 1 mg IM/SC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 3 mg intranasal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Lateralizar por riesgo de vómito</a:t>
            </a:r>
            <a:endParaRPr lang="en-US" sz="1600" dirty="0"/>
          </a:p>
        </p:txBody>
      </p:sp>
      <p:sp>
        <p:nvSpPr>
          <p:cNvPr id="21" name="card"/>
          <p:cNvSpPr/>
          <p:nvPr/>
        </p:nvSpPr>
        <p:spPr>
          <a:xfrm>
            <a:off x="548640" y="5577840"/>
            <a:ext cx="11091672" cy="594360"/>
          </a:xfrm>
          <a:prstGeom prst="roundRect">
            <a:avLst>
              <a:gd name="adj" fmla="val 18462"/>
            </a:avLst>
          </a:prstGeom>
          <a:solidFill>
            <a:schemeClr val="bg2"/>
          </a:solidFill>
          <a:ln/>
        </p:spPr>
      </p:sp>
      <p:sp>
        <p:nvSpPr>
          <p:cNvPr id="22" name="Text 16"/>
          <p:cNvSpPr txBox="1"/>
          <p:nvPr/>
        </p:nvSpPr>
        <p:spPr>
          <a:xfrm>
            <a:off x="731520" y="557784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Post-corrección: vigilar signos y glicemia cada 30 min por 4 h tras lograr normoglicemia (más tiempo si sulfonilureas).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9326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Cuidados de enfermería en hipoglicemia</a:t>
            </a:r>
            <a:endParaRPr lang="en-US" sz="3200" dirty="0"/>
          </a:p>
        </p:txBody>
      </p:sp>
      <p:sp>
        <p:nvSpPr>
          <p:cNvPr id="3" name="chip seccion"/>
          <p:cNvSpPr/>
          <p:nvPr/>
        </p:nvSpPr>
        <p:spPr>
          <a:xfrm>
            <a:off x="10015423" y="548640"/>
            <a:ext cx="1627632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015423" y="54864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chemeClr val="bg1"/>
                </a:solidFill>
              </a:rPr>
              <a:t>HIPOGLICEMIA</a:t>
            </a:r>
            <a:endParaRPr lang="en-US" sz="1100" dirty="0"/>
          </a:p>
        </p:txBody>
      </p:sp>
      <p:sp>
        <p:nvSpPr>
          <p:cNvPr id="6" name="card"/>
          <p:cNvSpPr/>
          <p:nvPr/>
        </p:nvSpPr>
        <p:spPr>
          <a:xfrm>
            <a:off x="548640" y="1463040"/>
            <a:ext cx="2606040" cy="457200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3293D">
                <a:alpha val="12000"/>
              </a:srgbClr>
            </a:outerShdw>
          </a:effectLst>
        </p:spPr>
      </p:sp>
      <p:sp>
        <p:nvSpPr>
          <p:cNvPr id="7" name="icon circle"/>
          <p:cNvSpPr/>
          <p:nvPr/>
        </p:nvSpPr>
        <p:spPr>
          <a:xfrm>
            <a:off x="1417320" y="1691640"/>
            <a:ext cx="868680" cy="8686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8" name="icon FaEy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3177" y="1917497"/>
            <a:ext cx="416966" cy="41696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85800" y="26974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accent3"/>
                </a:solidFill>
              </a:rPr>
              <a:t>Valorar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3291840"/>
            <a:ext cx="2240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Conciencia y estado general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Signos de hipoglicemia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Glicemia capilar inmediata</a:t>
            </a:r>
            <a:endParaRPr lang="en-US" sz="1600" dirty="0"/>
          </a:p>
        </p:txBody>
      </p:sp>
      <p:sp>
        <p:nvSpPr>
          <p:cNvPr id="11" name="flecha"/>
          <p:cNvSpPr/>
          <p:nvPr/>
        </p:nvSpPr>
        <p:spPr>
          <a:xfrm>
            <a:off x="3182112" y="3611880"/>
            <a:ext cx="182880" cy="274320"/>
          </a:xfrm>
          <a:prstGeom prst="rightArrow">
            <a:avLst/>
          </a:prstGeom>
          <a:solidFill>
            <a:schemeClr val="accent3"/>
          </a:solidFill>
          <a:ln/>
        </p:spPr>
      </p:sp>
      <p:sp>
        <p:nvSpPr>
          <p:cNvPr id="12" name="card"/>
          <p:cNvSpPr/>
          <p:nvPr/>
        </p:nvSpPr>
        <p:spPr>
          <a:xfrm>
            <a:off x="3383280" y="1463040"/>
            <a:ext cx="2606040" cy="457200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3293D">
                <a:alpha val="12000"/>
              </a:srgbClr>
            </a:outerShdw>
          </a:effectLst>
        </p:spPr>
      </p:sp>
      <p:sp>
        <p:nvSpPr>
          <p:cNvPr id="13" name="icon circle"/>
          <p:cNvSpPr/>
          <p:nvPr/>
        </p:nvSpPr>
        <p:spPr>
          <a:xfrm>
            <a:off x="4251960" y="1691640"/>
            <a:ext cx="868680" cy="8686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4" name="icon FaSyring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7817" y="1917497"/>
            <a:ext cx="416966" cy="41696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3520440" y="26974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accent3"/>
                </a:solidFill>
              </a:rPr>
              <a:t>Tratar</a:t>
            </a:r>
            <a:endParaRPr lang="en-US" sz="1800" dirty="0"/>
          </a:p>
        </p:txBody>
      </p:sp>
      <p:sp>
        <p:nvSpPr>
          <p:cNvPr id="16" name="Text 11"/>
          <p:cNvSpPr txBox="1"/>
          <p:nvPr/>
        </p:nvSpPr>
        <p:spPr>
          <a:xfrm>
            <a:off x="3611880" y="3291840"/>
            <a:ext cx="2240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Tratamiento oral o EV según nivel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VVP permeable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Exámenes solicitados</a:t>
            </a:r>
            <a:endParaRPr lang="en-US" sz="1600" dirty="0"/>
          </a:p>
        </p:txBody>
      </p:sp>
      <p:sp>
        <p:nvSpPr>
          <p:cNvPr id="17" name="flecha"/>
          <p:cNvSpPr/>
          <p:nvPr/>
        </p:nvSpPr>
        <p:spPr>
          <a:xfrm>
            <a:off x="6016752" y="3611880"/>
            <a:ext cx="182880" cy="274320"/>
          </a:xfrm>
          <a:prstGeom prst="rightArrow">
            <a:avLst/>
          </a:prstGeom>
          <a:solidFill>
            <a:schemeClr val="accent3"/>
          </a:solidFill>
          <a:ln/>
        </p:spPr>
      </p:sp>
      <p:sp>
        <p:nvSpPr>
          <p:cNvPr id="18" name="card"/>
          <p:cNvSpPr/>
          <p:nvPr/>
        </p:nvSpPr>
        <p:spPr>
          <a:xfrm>
            <a:off x="6217920" y="1463040"/>
            <a:ext cx="2606040" cy="457200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3293D">
                <a:alpha val="12000"/>
              </a:srgbClr>
            </a:outerShdw>
          </a:effectLst>
        </p:spPr>
      </p:sp>
      <p:sp>
        <p:nvSpPr>
          <p:cNvPr id="19" name="icon circle"/>
          <p:cNvSpPr/>
          <p:nvPr/>
        </p:nvSpPr>
        <p:spPr>
          <a:xfrm>
            <a:off x="7086600" y="1691640"/>
            <a:ext cx="868680" cy="8686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0" name="icon FaRotat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2457" y="1917497"/>
            <a:ext cx="416966" cy="41696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355080" y="26974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accent3"/>
                </a:solidFill>
              </a:rPr>
              <a:t>Reevaluar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6446520" y="3291840"/>
            <a:ext cx="2240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Glicemia a los 15 min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Signos vitales y SpO₂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Respuesta a la terapia</a:t>
            </a:r>
            <a:endParaRPr lang="en-US" sz="1600" dirty="0"/>
          </a:p>
        </p:txBody>
      </p:sp>
      <p:sp>
        <p:nvSpPr>
          <p:cNvPr id="23" name="flecha"/>
          <p:cNvSpPr/>
          <p:nvPr/>
        </p:nvSpPr>
        <p:spPr>
          <a:xfrm>
            <a:off x="8851392" y="3611880"/>
            <a:ext cx="182880" cy="274320"/>
          </a:xfrm>
          <a:prstGeom prst="rightArrow">
            <a:avLst/>
          </a:prstGeom>
          <a:solidFill>
            <a:schemeClr val="accent3"/>
          </a:solidFill>
          <a:ln/>
        </p:spPr>
      </p:sp>
      <p:sp>
        <p:nvSpPr>
          <p:cNvPr id="24" name="card"/>
          <p:cNvSpPr/>
          <p:nvPr/>
        </p:nvSpPr>
        <p:spPr>
          <a:xfrm>
            <a:off x="9052560" y="1463040"/>
            <a:ext cx="2606040" cy="457200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3293D">
                <a:alpha val="12000"/>
              </a:srgbClr>
            </a:outerShdw>
          </a:effectLst>
        </p:spPr>
      </p:sp>
      <p:sp>
        <p:nvSpPr>
          <p:cNvPr id="25" name="icon circle"/>
          <p:cNvSpPr/>
          <p:nvPr/>
        </p:nvSpPr>
        <p:spPr>
          <a:xfrm>
            <a:off x="9921240" y="1691640"/>
            <a:ext cx="868680" cy="8686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6" name="icon FaShieldHeart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7097" y="1917497"/>
            <a:ext cx="416966" cy="416966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9189720" y="26974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accent3"/>
                </a:solidFill>
              </a:rPr>
              <a:t>Proteger y prevenir</a:t>
            </a:r>
            <a:endParaRPr lang="en-US" sz="1800" dirty="0"/>
          </a:p>
        </p:txBody>
      </p:sp>
      <p:sp>
        <p:nvSpPr>
          <p:cNvPr id="28" name="Text 21"/>
          <p:cNvSpPr txBox="1"/>
          <p:nvPr/>
        </p:nvSpPr>
        <p:spPr>
          <a:xfrm>
            <a:off x="9281160" y="3291840"/>
            <a:ext cx="2240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Prevenir caídas en paciente agitado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Acompañamiento familiar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Registro y educación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irculo seccion"/>
          <p:cNvSpPr/>
          <p:nvPr/>
        </p:nvSpPr>
        <p:spPr>
          <a:xfrm>
            <a:off x="8595360" y="1463040"/>
            <a:ext cx="4206240" cy="42062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3" name="icono secci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0" y="2560320"/>
            <a:ext cx="2011680" cy="20116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73152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6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731520" y="1737360"/>
            <a:ext cx="7680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Caso clínico</a:t>
            </a:r>
            <a:endParaRPr lang="en-US" sz="40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731520" y="43434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del razonamiento clínico</a:t>
            </a:r>
            <a:endParaRPr lang="en-US" sz="18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9326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Caso clínico</a:t>
            </a:r>
            <a:endParaRPr lang="en-US" sz="3200" dirty="0"/>
          </a:p>
        </p:txBody>
      </p:sp>
      <p:sp>
        <p:nvSpPr>
          <p:cNvPr id="3" name="chip seccion"/>
          <p:cNvSpPr/>
          <p:nvPr/>
        </p:nvSpPr>
        <p:spPr>
          <a:xfrm>
            <a:off x="10015423" y="548640"/>
            <a:ext cx="1627632" cy="36576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015423" y="54864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chemeClr val="bg1"/>
                </a:solidFill>
              </a:rPr>
              <a:t>CASO CLÍNICO</a:t>
            </a:r>
            <a:endParaRPr lang="en-US" sz="1100" dirty="0"/>
          </a:p>
        </p:txBody>
      </p:sp>
      <p:sp>
        <p:nvSpPr>
          <p:cNvPr id="6" name="card"/>
          <p:cNvSpPr/>
          <p:nvPr/>
        </p:nvSpPr>
        <p:spPr>
          <a:xfrm>
            <a:off x="548640" y="1463040"/>
            <a:ext cx="5120640" cy="4572000"/>
          </a:xfrm>
          <a:prstGeom prst="roundRect">
            <a:avLst>
              <a:gd name="adj" fmla="val 24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3293D">
                <a:alpha val="12000"/>
              </a:srgbClr>
            </a:outerShdw>
          </a:effectLst>
        </p:spPr>
      </p:sp>
      <p:sp>
        <p:nvSpPr>
          <p:cNvPr id="7" name="icon circle"/>
          <p:cNvSpPr/>
          <p:nvPr/>
        </p:nvSpPr>
        <p:spPr>
          <a:xfrm>
            <a:off x="777240" y="1691640"/>
            <a:ext cx="731520" cy="7315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8" name="icon FaUser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7435" y="1881835"/>
            <a:ext cx="351130" cy="35113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91640" y="16916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900" b="1" dirty="0">
                <a:solidFill>
                  <a:schemeClr val="accent5"/>
                </a:solidFill>
              </a:rPr>
              <a:t>Presentación</a:t>
            </a:r>
            <a:endParaRPr 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2606040"/>
            <a:ext cx="46634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Hombre de 24 años con DM1, consulta en el SU por 2 días de vómitos, dolor abdominal y decaimiento. Refiere haber suspendido la insulina por inapetencia. FC 118 lpm, PA 100/60 mmHg, FR 28 rpm profunda, Glasgow 14, mucosas secas.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6035040" y="14630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accent5"/>
                </a:solidFill>
              </a:rPr>
              <a:t>Exámenes de laboratorio</a:t>
            </a:r>
            <a:endParaRPr lang="en-US" sz="1800" dirty="0"/>
          </a:p>
        </p:txBody>
      </p:sp>
      <p:sp>
        <p:nvSpPr>
          <p:cNvPr id="12" name="card"/>
          <p:cNvSpPr/>
          <p:nvPr/>
        </p:nvSpPr>
        <p:spPr>
          <a:xfrm>
            <a:off x="6035040" y="1965960"/>
            <a:ext cx="269748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6172200" y="196596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6"/>
                </a:solidFill>
              </a:rPr>
              <a:t>Glicemia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7223760" y="1965960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350 mg/dL</a:t>
            </a:r>
            <a:endParaRPr lang="en-US" sz="1800" dirty="0"/>
          </a:p>
        </p:txBody>
      </p:sp>
      <p:sp>
        <p:nvSpPr>
          <p:cNvPr id="15" name="card"/>
          <p:cNvSpPr/>
          <p:nvPr/>
        </p:nvSpPr>
        <p:spPr>
          <a:xfrm>
            <a:off x="8869680" y="1965960"/>
            <a:ext cx="269748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9006840" y="196596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6"/>
                </a:solidFill>
              </a:rPr>
              <a:t>pH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10058400" y="1965960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7,23</a:t>
            </a:r>
            <a:endParaRPr lang="en-US" sz="1800" dirty="0"/>
          </a:p>
        </p:txBody>
      </p:sp>
      <p:sp>
        <p:nvSpPr>
          <p:cNvPr id="18" name="card"/>
          <p:cNvSpPr/>
          <p:nvPr/>
        </p:nvSpPr>
        <p:spPr>
          <a:xfrm>
            <a:off x="6035040" y="2990088"/>
            <a:ext cx="269748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6172200" y="2990088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6"/>
                </a:solidFill>
              </a:rPr>
              <a:t>HCO₃⁻</a:t>
            </a:r>
            <a:endParaRPr lang="en-US" sz="1500" dirty="0"/>
          </a:p>
        </p:txBody>
      </p:sp>
      <p:sp>
        <p:nvSpPr>
          <p:cNvPr id="20" name="Text 16"/>
          <p:cNvSpPr txBox="1"/>
          <p:nvPr/>
        </p:nvSpPr>
        <p:spPr>
          <a:xfrm>
            <a:off x="7223760" y="2990088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12 mEq/L</a:t>
            </a:r>
            <a:endParaRPr lang="en-US" sz="1800" dirty="0"/>
          </a:p>
        </p:txBody>
      </p:sp>
      <p:sp>
        <p:nvSpPr>
          <p:cNvPr id="21" name="card"/>
          <p:cNvSpPr/>
          <p:nvPr/>
        </p:nvSpPr>
        <p:spPr>
          <a:xfrm>
            <a:off x="8869680" y="2990088"/>
            <a:ext cx="269748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22" name="Text 18"/>
          <p:cNvSpPr txBox="1"/>
          <p:nvPr/>
        </p:nvSpPr>
        <p:spPr>
          <a:xfrm>
            <a:off x="9006840" y="2990088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6"/>
                </a:solidFill>
              </a:rPr>
              <a:t>Cetonemia</a:t>
            </a:r>
            <a:endParaRPr lang="en-US" sz="1500" dirty="0"/>
          </a:p>
        </p:txBody>
      </p:sp>
      <p:sp>
        <p:nvSpPr>
          <p:cNvPr id="23" name="Text 19"/>
          <p:cNvSpPr txBox="1"/>
          <p:nvPr/>
        </p:nvSpPr>
        <p:spPr>
          <a:xfrm>
            <a:off x="10058400" y="2990088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+++</a:t>
            </a:r>
            <a:endParaRPr lang="en-US" sz="1800" dirty="0"/>
          </a:p>
        </p:txBody>
      </p:sp>
      <p:sp>
        <p:nvSpPr>
          <p:cNvPr id="24" name="card"/>
          <p:cNvSpPr/>
          <p:nvPr/>
        </p:nvSpPr>
        <p:spPr>
          <a:xfrm>
            <a:off x="6035040" y="4014216"/>
            <a:ext cx="269748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6172200" y="4014216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6"/>
                </a:solidFill>
              </a:rPr>
              <a:t>Cetonuria</a:t>
            </a:r>
            <a:endParaRPr lang="en-US" sz="1500" dirty="0"/>
          </a:p>
        </p:txBody>
      </p:sp>
      <p:sp>
        <p:nvSpPr>
          <p:cNvPr id="26" name="Text 22"/>
          <p:cNvSpPr txBox="1"/>
          <p:nvPr/>
        </p:nvSpPr>
        <p:spPr>
          <a:xfrm>
            <a:off x="7223760" y="4014216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(+)</a:t>
            </a:r>
            <a:endParaRPr lang="en-US" sz="1800" dirty="0"/>
          </a:p>
        </p:txBody>
      </p:sp>
      <p:sp>
        <p:nvSpPr>
          <p:cNvPr id="27" name="card"/>
          <p:cNvSpPr/>
          <p:nvPr/>
        </p:nvSpPr>
        <p:spPr>
          <a:xfrm>
            <a:off x="8869680" y="4014216"/>
            <a:ext cx="269748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15875">
            <a:solidFill>
              <a:srgbClr val="D63A47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9006840" y="4014216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6"/>
                </a:solidFill>
              </a:rPr>
              <a:t>K⁺</a:t>
            </a:r>
            <a:endParaRPr lang="en-US" sz="1500" dirty="0"/>
          </a:p>
        </p:txBody>
      </p:sp>
      <p:sp>
        <p:nvSpPr>
          <p:cNvPr id="29" name="Text 25"/>
          <p:cNvSpPr txBox="1"/>
          <p:nvPr/>
        </p:nvSpPr>
        <p:spPr>
          <a:xfrm>
            <a:off x="10058400" y="4014216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accent1"/>
                </a:solidFill>
              </a:rPr>
              <a:t>3,4 mEq/L</a:t>
            </a:r>
            <a:endParaRPr lang="en-US" sz="1800" dirty="0"/>
          </a:p>
        </p:txBody>
      </p:sp>
      <p:sp>
        <p:nvSpPr>
          <p:cNvPr id="30" name="card"/>
          <p:cNvSpPr/>
          <p:nvPr/>
        </p:nvSpPr>
        <p:spPr>
          <a:xfrm>
            <a:off x="6035040" y="5038344"/>
            <a:ext cx="269748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6172200" y="5038344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6"/>
                </a:solidFill>
              </a:rPr>
              <a:t>Na⁺</a:t>
            </a:r>
            <a:endParaRPr lang="en-US" sz="1500" dirty="0"/>
          </a:p>
        </p:txBody>
      </p:sp>
      <p:sp>
        <p:nvSpPr>
          <p:cNvPr id="32" name="Text 28"/>
          <p:cNvSpPr txBox="1"/>
          <p:nvPr/>
        </p:nvSpPr>
        <p:spPr>
          <a:xfrm>
            <a:off x="7223760" y="5038344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135 mEq/L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9326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Preguntas para el análisis</a:t>
            </a:r>
            <a:endParaRPr lang="en-US" sz="3200" dirty="0"/>
          </a:p>
        </p:txBody>
      </p:sp>
      <p:sp>
        <p:nvSpPr>
          <p:cNvPr id="3" name="chip seccion"/>
          <p:cNvSpPr/>
          <p:nvPr/>
        </p:nvSpPr>
        <p:spPr>
          <a:xfrm>
            <a:off x="10015423" y="548640"/>
            <a:ext cx="1627632" cy="36576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015423" y="54864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chemeClr val="bg1"/>
                </a:solidFill>
              </a:rPr>
              <a:t>CASO CLÍNICO</a:t>
            </a:r>
            <a:endParaRPr lang="en-US" sz="1100" dirty="0"/>
          </a:p>
        </p:txBody>
      </p:sp>
      <p:sp>
        <p:nvSpPr>
          <p:cNvPr id="6" name="card"/>
          <p:cNvSpPr/>
          <p:nvPr/>
        </p:nvSpPr>
        <p:spPr>
          <a:xfrm>
            <a:off x="548640" y="1417320"/>
            <a:ext cx="11091672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/>
        </p:spPr>
      </p:sp>
      <p:sp>
        <p:nvSpPr>
          <p:cNvPr id="7" name="num"/>
          <p:cNvSpPr/>
          <p:nvPr/>
        </p:nvSpPr>
        <p:spPr>
          <a:xfrm>
            <a:off x="731520" y="1527048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31520" y="15270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508760" y="141732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¿Qué otros exámenes solicitaría?</a:t>
            </a:r>
            <a:endParaRPr lang="en-US" sz="1900" dirty="0"/>
          </a:p>
        </p:txBody>
      </p:sp>
      <p:sp>
        <p:nvSpPr>
          <p:cNvPr id="10" name="card"/>
          <p:cNvSpPr/>
          <p:nvPr/>
        </p:nvSpPr>
        <p:spPr>
          <a:xfrm>
            <a:off x="548640" y="2350008"/>
            <a:ext cx="11091672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/>
        </p:spPr>
      </p:sp>
      <p:sp>
        <p:nvSpPr>
          <p:cNvPr id="11" name="num"/>
          <p:cNvSpPr/>
          <p:nvPr/>
        </p:nvSpPr>
        <p:spPr>
          <a:xfrm>
            <a:off x="731520" y="2459736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31520" y="24597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1508760" y="2350008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Según signos, síntomas y exámenes, ¿cuál es el diagnóstico y su severidad?</a:t>
            </a:r>
            <a:endParaRPr lang="en-US" sz="1900" dirty="0"/>
          </a:p>
        </p:txBody>
      </p:sp>
      <p:sp>
        <p:nvSpPr>
          <p:cNvPr id="14" name="card"/>
          <p:cNvSpPr/>
          <p:nvPr/>
        </p:nvSpPr>
        <p:spPr>
          <a:xfrm>
            <a:off x="548640" y="3282696"/>
            <a:ext cx="11091672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/>
        </p:spPr>
      </p:sp>
      <p:sp>
        <p:nvSpPr>
          <p:cNvPr id="15" name="num"/>
          <p:cNvSpPr/>
          <p:nvPr/>
        </p:nvSpPr>
        <p:spPr>
          <a:xfrm>
            <a:off x="731520" y="3392424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31520" y="33924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1508760" y="3282696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¿Cómo inicia la reposición de volumen? ¿Repone potasio? ¿Cuándo inicia la insulina?</a:t>
            </a:r>
            <a:endParaRPr lang="en-US" sz="1900" dirty="0"/>
          </a:p>
        </p:txBody>
      </p:sp>
      <p:sp>
        <p:nvSpPr>
          <p:cNvPr id="18" name="card"/>
          <p:cNvSpPr/>
          <p:nvPr/>
        </p:nvSpPr>
        <p:spPr>
          <a:xfrm>
            <a:off x="548640" y="4215384"/>
            <a:ext cx="11091672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/>
        </p:spPr>
      </p:sp>
      <p:sp>
        <p:nvSpPr>
          <p:cNvPr id="19" name="num"/>
          <p:cNvSpPr/>
          <p:nvPr/>
        </p:nvSpPr>
        <p:spPr>
          <a:xfrm>
            <a:off x="731520" y="4325112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731520" y="43251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1508760" y="4215384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¿Qué monitorización de enfermería prioriza en las primeras 4 horas?</a:t>
            </a:r>
            <a:endParaRPr lang="en-US" sz="1900" dirty="0"/>
          </a:p>
        </p:txBody>
      </p:sp>
      <p:sp>
        <p:nvSpPr>
          <p:cNvPr id="22" name="card"/>
          <p:cNvSpPr/>
          <p:nvPr/>
        </p:nvSpPr>
        <p:spPr>
          <a:xfrm>
            <a:off x="548640" y="5148072"/>
            <a:ext cx="11091672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/>
        </p:spPr>
      </p:sp>
      <p:sp>
        <p:nvSpPr>
          <p:cNvPr id="23" name="num"/>
          <p:cNvSpPr/>
          <p:nvPr/>
        </p:nvSpPr>
        <p:spPr>
          <a:xfrm>
            <a:off x="731520" y="52578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731520" y="5257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25" name="Text 22"/>
          <p:cNvSpPr txBox="1"/>
          <p:nvPr/>
        </p:nvSpPr>
        <p:spPr>
          <a:xfrm>
            <a:off x="1508760" y="5148072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Tras 1 h de BIC de insulina la glicemia capilar es 320 mg/dL. ¿Qué acciones realiza?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9326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Mensajes clave</a:t>
            </a:r>
            <a:endParaRPr lang="en-US" sz="3200" dirty="0"/>
          </a:p>
        </p:txBody>
      </p:sp>
      <p:sp>
        <p:nvSpPr>
          <p:cNvPr id="3" name="chip seccion"/>
          <p:cNvSpPr/>
          <p:nvPr/>
        </p:nvSpPr>
        <p:spPr>
          <a:xfrm>
            <a:off x="9896551" y="548640"/>
            <a:ext cx="1746504" cy="36576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896551" y="548640"/>
            <a:ext cx="1746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chemeClr val="bg1"/>
                </a:solidFill>
              </a:rPr>
              <a:t>GENERALIDADES</a:t>
            </a:r>
            <a:endParaRPr lang="en-US" sz="1100" dirty="0"/>
          </a:p>
        </p:txBody>
      </p:sp>
      <p:sp>
        <p:nvSpPr>
          <p:cNvPr id="6" name="card"/>
          <p:cNvSpPr/>
          <p:nvPr/>
        </p:nvSpPr>
        <p:spPr>
          <a:xfrm>
            <a:off x="548640" y="1417320"/>
            <a:ext cx="3515258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3293D">
                <a:alpha val="12000"/>
              </a:srgbClr>
            </a:outerShdw>
          </a:effectLst>
        </p:spPr>
      </p:sp>
      <p:sp>
        <p:nvSpPr>
          <p:cNvPr id="7" name="icon circle"/>
          <p:cNvSpPr/>
          <p:nvPr/>
        </p:nvSpPr>
        <p:spPr>
          <a:xfrm>
            <a:off x="777240" y="16459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icon FaVial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3661" y="1812341"/>
            <a:ext cx="307238" cy="30723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554480" y="1645920"/>
            <a:ext cx="23265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accent1"/>
                </a:solidFill>
              </a:rPr>
              <a:t>Diagnostica con cetonas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2423160"/>
            <a:ext cx="30580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β-OHB en sangre es el eje del diagnóstico y de la resolución de la CAD.</a:t>
            </a:r>
            <a:endParaRPr lang="en-US" sz="1700" dirty="0"/>
          </a:p>
        </p:txBody>
      </p:sp>
      <p:sp>
        <p:nvSpPr>
          <p:cNvPr id="11" name="card"/>
          <p:cNvSpPr/>
          <p:nvPr/>
        </p:nvSpPr>
        <p:spPr>
          <a:xfrm>
            <a:off x="4338218" y="1417320"/>
            <a:ext cx="3515258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3293D">
                <a:alpha val="12000"/>
              </a:srgbClr>
            </a:outerShdw>
          </a:effectLst>
        </p:spPr>
      </p:sp>
      <p:sp>
        <p:nvSpPr>
          <p:cNvPr id="12" name="icon circle"/>
          <p:cNvSpPr/>
          <p:nvPr/>
        </p:nvSpPr>
        <p:spPr>
          <a:xfrm>
            <a:off x="4566818" y="16459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con FaListOl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3239" y="1812341"/>
            <a:ext cx="307238" cy="30723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344058" y="1645920"/>
            <a:ext cx="23265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accent1"/>
                </a:solidFill>
              </a:rPr>
              <a:t>Respeta la secuencia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4566818" y="2423160"/>
            <a:ext cx="30580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Volumen → K⁺ ≥ 3,5 → insulina. Nunca insulina con hipokalemia.</a:t>
            </a:r>
            <a:endParaRPr lang="en-US" sz="1700" dirty="0"/>
          </a:p>
        </p:txBody>
      </p:sp>
      <p:sp>
        <p:nvSpPr>
          <p:cNvPr id="16" name="card"/>
          <p:cNvSpPr/>
          <p:nvPr/>
        </p:nvSpPr>
        <p:spPr>
          <a:xfrm>
            <a:off x="8127797" y="1417320"/>
            <a:ext cx="3515258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3293D">
                <a:alpha val="12000"/>
              </a:srgbClr>
            </a:outerShdw>
          </a:effectLst>
        </p:spPr>
      </p:sp>
      <p:sp>
        <p:nvSpPr>
          <p:cNvPr id="17" name="icon circle"/>
          <p:cNvSpPr/>
          <p:nvPr/>
        </p:nvSpPr>
        <p:spPr>
          <a:xfrm>
            <a:off x="8356397" y="164592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8" name="icon FaGaugeHigh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2818" y="1812341"/>
            <a:ext cx="307238" cy="307238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133637" y="1645920"/>
            <a:ext cx="23265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accent2"/>
                </a:solidFill>
              </a:rPr>
              <a:t>Corrige sin prisa</a:t>
            </a:r>
            <a:endParaRPr lang="en-US" sz="1800" dirty="0"/>
          </a:p>
        </p:txBody>
      </p:sp>
      <p:sp>
        <p:nvSpPr>
          <p:cNvPr id="20" name="Text 14"/>
          <p:cNvSpPr txBox="1"/>
          <p:nvPr/>
        </p:nvSpPr>
        <p:spPr>
          <a:xfrm>
            <a:off x="8356397" y="2423160"/>
            <a:ext cx="30580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En SHH, descenso controlado de glicemia, osmolalidad y sodio.</a:t>
            </a:r>
            <a:endParaRPr lang="en-US" sz="1700" dirty="0"/>
          </a:p>
        </p:txBody>
      </p:sp>
      <p:sp>
        <p:nvSpPr>
          <p:cNvPr id="21" name="card"/>
          <p:cNvSpPr/>
          <p:nvPr/>
        </p:nvSpPr>
        <p:spPr>
          <a:xfrm>
            <a:off x="548640" y="3886200"/>
            <a:ext cx="3515258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3293D">
                <a:alpha val="12000"/>
              </a:srgbClr>
            </a:outerShdw>
          </a:effectLst>
        </p:spPr>
      </p:sp>
      <p:sp>
        <p:nvSpPr>
          <p:cNvPr id="22" name="icon circle"/>
          <p:cNvSpPr/>
          <p:nvPr/>
        </p:nvSpPr>
        <p:spPr>
          <a:xfrm>
            <a:off x="777240" y="4114800"/>
            <a:ext cx="640080" cy="64008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3" name="icon FaRotat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661" y="4281221"/>
            <a:ext cx="307238" cy="307238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554480" y="4114800"/>
            <a:ext cx="23265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accent4"/>
                </a:solidFill>
              </a:rPr>
              <a:t>Reevalúa</a:t>
            </a:r>
            <a:endParaRPr lang="en-US" sz="1800" dirty="0"/>
          </a:p>
        </p:txBody>
      </p:sp>
      <p:sp>
        <p:nvSpPr>
          <p:cNvPr id="25" name="Text 18"/>
          <p:cNvSpPr txBox="1"/>
          <p:nvPr/>
        </p:nvSpPr>
        <p:spPr>
          <a:xfrm>
            <a:off x="777240" y="4892040"/>
            <a:ext cx="30580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Glicemia horaria, K⁺ a las 2 h, exámenes cada 4 h.</a:t>
            </a:r>
            <a:endParaRPr lang="en-US" sz="1700" dirty="0"/>
          </a:p>
        </p:txBody>
      </p:sp>
      <p:sp>
        <p:nvSpPr>
          <p:cNvPr id="26" name="card"/>
          <p:cNvSpPr/>
          <p:nvPr/>
        </p:nvSpPr>
        <p:spPr>
          <a:xfrm>
            <a:off x="4338218" y="3886200"/>
            <a:ext cx="3515258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3293D">
                <a:alpha val="12000"/>
              </a:srgbClr>
            </a:outerShdw>
          </a:effectLst>
        </p:spPr>
      </p:sp>
      <p:sp>
        <p:nvSpPr>
          <p:cNvPr id="27" name="icon circle"/>
          <p:cNvSpPr/>
          <p:nvPr/>
        </p:nvSpPr>
        <p:spPr>
          <a:xfrm>
            <a:off x="4566818" y="411480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8" name="icon FaArrowTrendDow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3239" y="4281221"/>
            <a:ext cx="307238" cy="307238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5344058" y="4114800"/>
            <a:ext cx="23265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accent3"/>
                </a:solidFill>
              </a:rPr>
              <a:t>Hipoglicemia</a:t>
            </a:r>
            <a:endParaRPr lang="en-US" sz="1800" dirty="0"/>
          </a:p>
        </p:txBody>
      </p:sp>
      <p:sp>
        <p:nvSpPr>
          <p:cNvPr id="30" name="Text 22"/>
          <p:cNvSpPr txBox="1"/>
          <p:nvPr/>
        </p:nvSpPr>
        <p:spPr>
          <a:xfrm>
            <a:off x="4566818" y="4892040"/>
            <a:ext cx="30580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Regla 15-15 o glucosa EV; clasifica por niveles ADA.</a:t>
            </a:r>
            <a:endParaRPr lang="en-US" sz="1700" dirty="0"/>
          </a:p>
        </p:txBody>
      </p:sp>
      <p:sp>
        <p:nvSpPr>
          <p:cNvPr id="31" name="card"/>
          <p:cNvSpPr/>
          <p:nvPr/>
        </p:nvSpPr>
        <p:spPr>
          <a:xfrm>
            <a:off x="8127797" y="3886200"/>
            <a:ext cx="3515258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3293D">
                <a:alpha val="12000"/>
              </a:srgbClr>
            </a:outerShdw>
          </a:effectLst>
        </p:spPr>
      </p:sp>
      <p:sp>
        <p:nvSpPr>
          <p:cNvPr id="32" name="icon circle"/>
          <p:cNvSpPr/>
          <p:nvPr/>
        </p:nvSpPr>
        <p:spPr>
          <a:xfrm>
            <a:off x="8356397" y="4114800"/>
            <a:ext cx="640080" cy="64008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33" name="icon FaGraduationCap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22818" y="4281221"/>
            <a:ext cx="307238" cy="307238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9133637" y="4114800"/>
            <a:ext cx="23265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accent4"/>
                </a:solidFill>
              </a:rPr>
              <a:t>Educa</a:t>
            </a:r>
            <a:endParaRPr lang="en-US" sz="1800" dirty="0"/>
          </a:p>
        </p:txBody>
      </p:sp>
      <p:sp>
        <p:nvSpPr>
          <p:cNvPr id="35" name="Text 26"/>
          <p:cNvSpPr txBox="1"/>
          <p:nvPr/>
        </p:nvSpPr>
        <p:spPr>
          <a:xfrm>
            <a:off x="8356397" y="4892040"/>
            <a:ext cx="30580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Días de enfermedad e iSGLT2 previenen el reingreso.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9326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Bibliografía</a:t>
            </a:r>
            <a:endParaRPr lang="en-US" sz="3200" dirty="0"/>
          </a:p>
        </p:txBody>
      </p:sp>
      <p:sp>
        <p:nvSpPr>
          <p:cNvPr id="3" name="chip seccion"/>
          <p:cNvSpPr/>
          <p:nvPr/>
        </p:nvSpPr>
        <p:spPr>
          <a:xfrm>
            <a:off x="9896551" y="548640"/>
            <a:ext cx="1746504" cy="36576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896551" y="548640"/>
            <a:ext cx="1746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chemeClr val="bg1"/>
                </a:solidFill>
              </a:rPr>
              <a:t>GENERALIDADES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371600"/>
            <a:ext cx="11091672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Umpierrez GE, Davis GM, ElSayed NA, et al. Hyperglycemic crises in adults with diabetes: a consensus report. Diabetes Care. 2024;47(8):1257-1275. doi:10.2337/dci24-0032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American Diabetes Association Professional Practice Committee. 6. Glycemic goals and hypoglycemia; 16. Diabetes care in the hospital. Standards of Care in Diabetes—2025. Diabetes Care. 2025;48(Suppl 1).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Dhatariya KK; Joint British Diabetes Societies for Inpatient Care. The management of diabetic ketoacidosis in adults—An updated guideline from the JBDS. Diabet Med. 2022;39(6):e14788.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Mustafa OG, Haq M, Dashora U, et al. Management of hyperosmolar hyperglycaemic state (HHS) in adults: an updated guideline from the JBDS. Diabet Med. 2023;40(3):e15005.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Self WH, Evans CS, Jenkins CA, et al. Clinical effects of balanced crystalloids vs saline in adults with diabetic ketoacidosis: a subgroup analysis of cluster randomized clinical trials. JAMA Netw Open. 2020;3(11):e2024596.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International Diabetes Federation. IDF Diabetes Atlas, 11th ed. Brussels: IDF; 2025.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Ministerio de Salud de Chile. Encuesta Nacional de Salud 2016-2017. Santiago: MINSAL.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Karslioglu French E, Donihi AC, Korytkowski MT. Diabetic ketoacidosis and hyperosmolar hyperglycemic syndrome: review of acute decompensated diabetes in adult patients. BMJ. 2019;365:l1114.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Soto I, Miranda L, Cruz M. Manual de enfermería de atención de urgencia. 2.ª ed. Santiago: Mediterráneo.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"/>
          <p:cNvSpPr/>
          <p:nvPr/>
        </p:nvSpPr>
        <p:spPr>
          <a:xfrm>
            <a:off x="7863840" y="-1280160"/>
            <a:ext cx="5852160" cy="585216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3" name="icono preguntas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0" y="640080"/>
            <a:ext cx="2011680" cy="20116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237744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¿Preguntas?</a:t>
            </a:r>
            <a:endParaRPr lang="en-US" sz="5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35661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800" dirty="0">
                <a:solidFill>
                  <a:srgbClr val="C9D6E2"/>
                </a:solidFill>
              </a:rPr>
              <a:t>Gracias</a:t>
            </a:r>
            <a:endParaRPr lang="en-US" sz="2800" dirty="0"/>
          </a:p>
        </p:txBody>
      </p:sp>
      <p:sp>
        <p:nvSpPr>
          <p:cNvPr id="6" name="fondo logo"/>
          <p:cNvSpPr/>
          <p:nvPr/>
        </p:nvSpPr>
        <p:spPr>
          <a:xfrm>
            <a:off x="731520" y="5303520"/>
            <a:ext cx="27432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pic>
        <p:nvPicPr>
          <p:cNvPr id="7" name="logo UDP" descr="/tmp/claude-0/-home-user-consulta-rapida-udp-1/9cceb7d2-17c1-54e8-ad8d-902cfdfe7566/scratchpad/src/unz/ppt/media/imag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367528"/>
            <a:ext cx="2560320" cy="78638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Emergencias Metabolicas">
  <a:themeElements>
    <a:clrScheme name="Emergencias Metabolicas">
      <a:dk1>
        <a:srgbClr val="13293D"/>
      </a:dk1>
      <a:lt1>
        <a:srgbClr val="FFFFFF"/>
      </a:lt1>
      <a:dk2>
        <a:srgbClr val="1F3B54"/>
      </a:dk2>
      <a:lt2>
        <a:srgbClr val="EEF3F7"/>
      </a:lt2>
      <a:accent1>
        <a:srgbClr val="D63A47"/>
      </a:accent1>
      <a:accent2>
        <a:srgbClr val="5E4FA2"/>
      </a:accent2>
      <a:accent3>
        <a:srgbClr val="E08A1E"/>
      </a:accent3>
      <a:accent4>
        <a:srgbClr val="1F8A7E"/>
      </a:accent4>
      <a:accent5>
        <a:srgbClr val="2C6E9B"/>
      </a:accent5>
      <a:accent6>
        <a:srgbClr val="5B6B7A"/>
      </a:accent6>
      <a:hlink>
        <a:srgbClr val="2C6E9B"/>
      </a:hlink>
      <a:folHlink>
        <a:srgbClr val="5E4FA2"/>
      </a:folHlink>
    </a:clrScheme>
    <a:fontScheme name="Emergencias Metabolica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49</Slides>
  <Notes>49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</vt:vector>
  </TitlesOfParts>
  <Company>Universidad Diego Portales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Gestión del cuidado en emergencias metabólicas hipo e hiperglicémicas</dc:title>
  <dc:subject>PptxGenJS Presentation</dc:subject>
  <dc:creator>Mg. E.U. Fabiola Calquín M.</dc:creator>
  <cp:lastModifiedBy>Mg. E.U. Fabiola Calquín M.</cp:lastModifiedBy>
  <cp:revision>1</cp:revision>
  <dcterms:created xsi:type="dcterms:W3CDTF">2026-10-16T22:45:18Z</dcterms:created>
  <dcterms:modified xsi:type="dcterms:W3CDTF">2026-10-16T22:45:18Z</dcterms:modified>
</cp:coreProperties>
</file>